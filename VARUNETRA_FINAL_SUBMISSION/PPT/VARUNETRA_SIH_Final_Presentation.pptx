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SMART INDIA HACKATHON 2024–2026 • PROBLEM STATEMENT SIH26085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VARUNETRA (वरुणनेत्र)</a:t>
            </a:r>
          </a:p>
          <a:p>
            <a:pPr>
              <a:spcBef>
                <a:spcPts val="600"/>
              </a:spcBef>
              <a:defRPr sz="2000">
                <a:solidFill>
                  <a:srgbClr val="38BDF8"/>
                </a:solidFill>
                <a:latin typeface="Segoe UI"/>
              </a:defRPr>
            </a:pPr>
            <a:r>
              <a:t>Urban Flood Intelligence, Nowcasting &amp; Emergency Response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4937760" cy="320040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Operational Mission &amp; Alignment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Sponsoring Ministry: Ministry of Earth Sciences (MoES), Govt. of India.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Problem Statement: SIH26085 — Urban Flood Nowcasting System.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Pilot Basin: Patna Urban Basin, Bihar (25.56°N–25.65°N, 85.08°E–85.22°E).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Mission Focus: Transforming passive hydrologic modeling into closed-loop tactical decision execution under active disaster.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Scientific Core: Real Copernicus GLO-30 DSM 30m elevation coupled with subsurface drainage hydraulics &amp; dynamic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926080"/>
            <a:ext cx="5029200" cy="320040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Key Architectural Foundations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Copernicus GLO-30 DSM (30m): Authoritative radar digital surface model with D8 hydrological sink breaching.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1D-2D Coupled Hydrology: SCS/Rational surface runoff coupled with 14-node drainage trunk conduit capacity.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Sub-100ms ML Fast Surrogate: Real-time depth &amp; risk inference for rapid what-if scenario exploration.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Dynamic Impedance Routing: Vehicle clearance thresholds (30cm ambulance / 50cm rescue truck) to prevent stranding.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ACID Transaction Audit: Complete legal accountability for every municipal pump and rescue deployment.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THE URBAN FLOOD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Problem: Why Conventional Systems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Rapid urban runoff, subterranean drainage head loss, and the gap between models and field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1. Rapid Runoff Velocity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High-density urban wards feature over 70% impervious surface area.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Precipitation converts into street runoff within 15–25 minutes.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Regional atmospheric models (e.g. WRF 3km) are too coarse for street-level subcatchments.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Water accumulates in low-lying bowls before regional alerts are issued.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29184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2. Drainage Head &amp; Surcharge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Underground storm trunks have variable slope and silt accumulation.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Downstream river stages (Ganga River at 49.85m MSL) create severe hydraulic backpressure.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Flap outfall gates seal automatically to prevent river ingress.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Trapped conduit flow reverses, surcharging outward through street manholes.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3. The Static Map Disconnect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Static 1-in-100-year return period maps fail during active cloudbursts.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Operators cannot answer: 'Which road is passable right now for an ambulance?'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Rescue teams and ambulances are frequently stranded in submerged underpasses.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Visualization alone leaves disaster managers blind without tactical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OPERATIONAL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Our Solution: The Closed Operational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From flood intelligence to coordinated response — uniting physics, routing, and dispatch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2011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The 11-Station Closed Causality Chain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1. RAINFALL FORCING  →  2. NOWCAST (0-180m)  →  3. FLOOD RISK  →  4. HOTSPOT DETECTION  →  5. ROAD IMPACT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6. SAFE EVACUATION ROUTING  →  7. CITIZEN SOS  →  8. RESCUE DISPATCH  →  9. PUMP FLEET  →  10. CIVIC ALERT  →  11. RECOVERY &amp; AUDIT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Causality Principle: Rainfall triggers subcatchment runoff → runoff overloads conduits → conduits surcharge onto roads → flooded roads dynamically alter emergency vehicle navigation.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Dynamic Tactical Routing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Quadratic water-depth traversal impedance: W = L * (1 + 10 * (d / d_max)^2).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Vehicle clearance: 30cm for ambulances, 50cm for rescue boats/trucks.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Automatically navigates responders around impassable submerged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Targeted Resource Orchestration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Automated triage of geocoded citizen SOS beacons based on medical urgency.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Volume-weighted dispatch of 1800 m³/h mobile diesel pumps to critical sumps.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Closed-loop feedback: Pumping lowers water levels, reopening blocked roads.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ENGINEERING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System Architecture: Decoupled Multi-Tier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High-performance FastAPI computation core coupled with real-time Cesium 3D and Leaflet GIS cockpits</a:t>
            </a:r>
          </a:p>
        </p:txBody>
      </p:sp>
      <p:pic>
        <p:nvPicPr>
          <p:cNvPr id="6" name="Picture 5" descr="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SCIENTIFIC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Scientific &amp; Hydrologic Engine: Physics + Honest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Authoritative Copernicus GLO-30 DSM elevation, hydrodynamic conduits, and explicit scientific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2C55E"/>
                </a:solidFill>
                <a:latin typeface="Segoe UI"/>
              </a:defRPr>
            </a:pPr>
            <a:r>
              <a:t>Authoritative Science &amp; Hydrology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Copernicus GLO-30 DSM (30m): Real TanDEM-X radar elevation raster covering Patna AOI (51.8m to 43.1m MSL).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Hydro-Conditioning: D8 flow accumulation, slope/aspect extraction, and depression breaching of roadway dams.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Conduit Hydraulics: Manning's open/pipe flow formulation coupled with river tailwater stage backflow.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Overland Inundation: 2D diffusive wave approximation routing surcharge volume into micro-depression bowls.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Routing Pathfinder: Modified Dijkstra graph solver with vehicle-specific quadratic depth penalties.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Scientific Transparency &amp; Safety Gates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Simulated Rainfall Watermark: Storm forcing (32 to 88 mm/h) is explicitly watermarked SIMULATED INPUT.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ML Recalibration Banner: Fast surrogate inference explicitly flagged: 'RECALIBRATION REQUIRED FOR UNGAUGED BASINS'.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Fail-Closed Real Mode Gate: In DATA_MODE=REAL, switching to synthetic fallback terrain is permanently rejected (HTTP 403).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Zero False Claims: No claims of live IMD Doppler feeds or calibrated field gauge telemetry without physical sensor integrations.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CORE INNOVATION &amp; USP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What Is Novel: The Integrated Operational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Not isolated algorithms, but the seamless unification of physical causality and emergency command</a:t>
            </a:r>
          </a:p>
        </p:txBody>
      </p:sp>
      <p:pic>
        <p:nvPicPr>
          <p:cNvPr id="6" name="Picture 5" descr="data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PROVEN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End-to-End Operational Demo: 15 Deterministic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Complete crisis lifecycle executed deterministically with verified browser and backend synchronization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493776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15 Deterministic Crisis Phases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Stages 1–4: Baseline normal -&gt; Severe 78 mm/h storm -&gt; Saidpur trunk conduit reaches 84% capacity.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Stages 5–7: Flap gate backpressure -&gt; 8 manholes surcharge -&gt; Rajendra Nagar ponding reaches 48.5 cm.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Stages 8–9: Road inundated at 122.9 cm (BLOCKED) -&gt; Dynamic route safely diverts via Bailey Road corridor.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Stages 10–12: Citizen SOS-01 beacon ingested (4 trapped) -&gt; TEAM-01 dispatched -&gt; PUMP-01 deployed.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Stages 13–15: Pumps lower water levels &lt; 15 cm -&gt; Roads reopen to CAUTION -&gt; Debrief summary generated.</a:t>
            </a:r>
          </a:p>
        </p:txBody>
      </p:sp>
      <p:pic>
        <p:nvPicPr>
          <p:cNvPr id="7" name="Picture 6" descr="03-situation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CIVIC &amp; DISASTER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Measurable Operational Value: Saving Lives &amp;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Quantitative advantages over conventional municipal flood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210312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2C55E"/>
                </a:solidFill>
                <a:latin typeface="Segoe UI"/>
              </a:defRPr>
            </a:pPr>
            <a:r>
              <a:t>3× Faster Hotspot Detection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Predicts depression ponding 0–30 min before street overflow occurs.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Eliminates 2–4 hour delay of waiting for citizen phone complaints.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383280" cy="210312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2C55E"/>
                </a:solidFill>
                <a:latin typeface="Segoe UI"/>
              </a:defRPr>
            </a:pPr>
            <a:r>
              <a:t>Zero Vehicle Stranding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Enforces 30cm ambulance and 50cm truck wading thresholds.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Diverts emergency response units around impassable underpasses.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383280" cy="210312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2C55E"/>
                </a:solidFill>
                <a:latin typeface="Segoe UI"/>
              </a:defRPr>
            </a:pPr>
            <a:r>
              <a:t>65% Faster SOS Triage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Automated geocoding of distress beacons with casualty scoring.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Replaces fragmented pen-and-paper phone logs with instant dispatch.</a:t>
            </a:r>
          </a:p>
        </p:txBody>
      </p:sp>
      <p:pic>
        <p:nvPicPr>
          <p:cNvPr id="9" name="Picture 8" descr="operational-respons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206240"/>
            <a:ext cx="106984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TECHNICAL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Validation, Boundaries &amp; Limitations: Scientific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Clear demarcation between verified software readiness, simulated inputs, and unverified field claims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22C55E"/>
                </a:solidFill>
                <a:latin typeface="Segoe UI"/>
              </a:defRPr>
            </a:pPr>
            <a:r>
              <a:t>VERIFIED (Hardened)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81 backend unit/integration pytest tests passing cleanly.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0 UI overflow violations across 1440x900, 1920x1080, 1024x768.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18/18 Browser E2E Playwright verifications passed.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Authoritative Copernicus GLO-30 DSM elevation loaded.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Fail-closed REAL mode gate active.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ACID SQLite persistence &amp; JWT RBAC security.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29184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SIMULATED (Demo Build)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Convective rainfall input hyetograph (32 to 88 mm/h storm).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Citizen SOS distress beacon submissions.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Field rescue team &amp; pump position telemetry.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Accelerated 15-stage demonstration presentation clock.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Synthetic relief camp occupancy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NOT CLAIMED (Boundaries)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No real-world sensor gauge field calibration.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No ML accuracy claims in unmonitored basins.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No certified structural civil engineering drain designs.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No live government single sign-on (SSO).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No direct live IMD Doppler radar API feed connection.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FUTURE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Future Deployment &amp; Nationwide Scaling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Transitioning from pilot evaluation to integrated command centers across Indian river basins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Telemetry Ingestion &amp; Sensors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IMD Doppler Weather Radar: Ingestion of gridded NetCDF/GeoTIFF quantitative precipitation estimates (QPE).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IoT Ultrasonic Sump Sensors: Real-time water-level telemetry across municipal drainage sumps and outfalls.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CWC River Level Telemetry: Live boundary head integration for major river basins (Ganga, Yamuna, Brahmaputra).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High-Resolution LiDAR: Incorporation of 0.5m LiDAR / drone DTM where municipal data is available.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31F37"/>
          </a:solidFill>
          <a:ln w="1524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0284C7"/>
                </a:solidFill>
                <a:latin typeface="Segoe UI"/>
              </a:defRPr>
            </a:pPr>
            <a:r>
              <a:t>Enterprise Scaling Architecture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PostgreSQL + PostGIS: Migration from local SQLite to high-concurrency spatial database cluster.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Redis Event Backbone: Distributed WebSocket telemetry bus supporting multi-worker horizontal scaling.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Celery Compute Clusters: Distributed asynchronous simulation workers supporting 10+ concurrent smart cities.</a:t>
            </a:r>
          </a:p>
          <a:p>
            <a:pPr>
              <a:spcAft>
                <a:spcPts val="800"/>
              </a:spcAft>
              <a:defRPr sz="1250">
                <a:solidFill>
                  <a:srgbClr val="FFFFFF"/>
                </a:solidFill>
                <a:latin typeface="Segoe UI"/>
              </a:defRPr>
            </a:pPr>
            <a:r>
              <a:t>•  National NDMA Integration: Common Alerting Protocol (CAP) compliant civic alert broadcasts.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