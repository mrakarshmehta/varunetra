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fmiscwrdbihar.gov.in/fmis/" TargetMode="External"/><Relationship Id="rId5" Type="http://schemas.openxmlformats.org/officeDocument/2006/relationships/hyperlink" Target="https://mausam.imd.gov.in/" TargetMode="External"/><Relationship Id="rId6" Type="http://schemas.openxmlformats.org/officeDocument/2006/relationships/hyperlink" Target="https://www.mosdac.gov.in/" TargetMode="External"/><Relationship Id="rId7" Type="http://schemas.openxmlformats.org/officeDocument/2006/relationships/hyperlink" Target="https://www.epa.gov/water-research/storm-water-management-model-swmm" TargetMode="External"/><Relationship Id="rId8" Type="http://schemas.openxmlformats.org/officeDocument/2006/relationships/hyperlink" Target="https://itzi.readthedocs.io/" TargetMode="External"/><Relationship Id="rId9" Type="http://schemas.openxmlformats.org/officeDocument/2006/relationships/hyperlink" Target="https://dataspace.copernicus.eu/explore-data/data-collections/copernicus-contributing-missions/collections-description/COP-D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800" b="1" dirty="0">
                <a:solidFill>
                  <a:schemeClr val="tx2"/>
                </a:solidFill>
                <a:latin typeface="Times New Roman" pitchFamily="18" charset="0"/>
              </a:rPr>
              <a:t>SMART INDIA HACKATHON </a:t>
            </a:r>
            <a:r>
              <a:rPr lang="en-US" sz="3800" b="1" dirty="0" smtClean="0">
                <a:solidFill>
                  <a:schemeClr val="tx2"/>
                </a:solidFill>
                <a:latin typeface="Times New Roman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SIH metadata"/>
          <p:cNvSpPr txBox="1"/>
          <p:nvPr/>
        </p:nvSpPr>
        <p:spPr>
          <a:xfrm>
            <a:off x="457200" y="2011680"/>
            <a:ext cx="544068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F3A5F"/>
              </a:buClr>
              <a:buFont typeface="Arial"/>
              <a:buChar char="•"/>
            </a:pPr>
            <a:r>
              <a:rPr sz="1700" b="1" i="0">
                <a:solidFill>
                  <a:srgbClr val="1F3A5F"/>
                </a:solidFill>
                <a:latin typeface="Arial"/>
              </a:rPr>
              <a:t>Problem Statement ID – </a:t>
            </a:r>
            <a:r>
              <a:rPr sz="1700" b="0" i="0">
                <a:solidFill>
                  <a:srgbClr val="1B2A3B"/>
                </a:solidFill>
                <a:latin typeface="Arial"/>
              </a:rPr>
              <a:t>SIH26085</a:t>
            </a:r>
          </a:p>
          <a:p>
            <a:pPr algn="l" marL="201168" indent="-201168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F3A5F"/>
              </a:buClr>
              <a:buFont typeface="Arial"/>
              <a:buChar char="•"/>
            </a:pPr>
            <a:r>
              <a:rPr sz="1700" b="1" i="0">
                <a:solidFill>
                  <a:srgbClr val="1F3A5F"/>
                </a:solidFill>
                <a:latin typeface="Arial"/>
              </a:rPr>
              <a:t>Problem Statement Title – </a:t>
            </a:r>
            <a:r>
              <a:rPr sz="1700" b="0" i="0">
                <a:solidFill>
                  <a:srgbClr val="1B2A3B"/>
                </a:solidFill>
                <a:latin typeface="Arial"/>
              </a:rPr>
              <a:t>Urban Flood Nowcasting System (Drainage and Rainfall Coupling)</a:t>
            </a:r>
          </a:p>
          <a:p>
            <a:pPr algn="l" marL="201168" indent="-201168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F3A5F"/>
              </a:buClr>
              <a:buFont typeface="Arial"/>
              <a:buChar char="•"/>
            </a:pPr>
            <a:r>
              <a:rPr sz="1700" b="1" i="0">
                <a:solidFill>
                  <a:srgbClr val="1F3A5F"/>
                </a:solidFill>
                <a:latin typeface="Arial"/>
              </a:rPr>
              <a:t>Theme – </a:t>
            </a:r>
            <a:r>
              <a:rPr sz="1700" b="0" i="0">
                <a:solidFill>
                  <a:srgbClr val="1B2A3B"/>
                </a:solidFill>
                <a:latin typeface="Arial"/>
              </a:rPr>
              <a:t>Disaster Management</a:t>
            </a:r>
          </a:p>
          <a:p>
            <a:pPr algn="l" marL="201168" indent="-201168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F3A5F"/>
              </a:buClr>
              <a:buFont typeface="Arial"/>
              <a:buChar char="•"/>
            </a:pPr>
            <a:r>
              <a:rPr sz="1700" b="1" i="0">
                <a:solidFill>
                  <a:srgbClr val="1F3A5F"/>
                </a:solidFill>
                <a:latin typeface="Arial"/>
              </a:rPr>
              <a:t>PS Category – </a:t>
            </a:r>
            <a:r>
              <a:rPr sz="1700" b="0" i="0">
                <a:solidFill>
                  <a:srgbClr val="1B2A3B"/>
                </a:solidFill>
                <a:latin typeface="Arial"/>
              </a:rPr>
              <a:t>Software</a:t>
            </a:r>
          </a:p>
          <a:p>
            <a:pPr algn="l" marL="201168" indent="-201168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F3A5F"/>
              </a:buClr>
              <a:buFont typeface="Arial"/>
              <a:buChar char="•"/>
            </a:pPr>
            <a:r>
              <a:rPr sz="1700" b="1" i="0">
                <a:solidFill>
                  <a:srgbClr val="1F3A5F"/>
                </a:solidFill>
                <a:latin typeface="Arial"/>
              </a:rPr>
              <a:t>Team ID – </a:t>
            </a:r>
            <a:r>
              <a:rPr sz="1700" b="0" i="0">
                <a:solidFill>
                  <a:srgbClr val="1B2A3B"/>
                </a:solidFill>
                <a:latin typeface="Arial"/>
              </a:rPr>
              <a:t>166925</a:t>
            </a:r>
          </a:p>
          <a:p>
            <a:pPr algn="l" marL="201168" indent="-201168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F3A5F"/>
              </a:buClr>
              <a:buFont typeface="Arial"/>
              <a:buChar char="•"/>
            </a:pPr>
            <a:r>
              <a:rPr sz="1700" b="1" i="0">
                <a:solidFill>
                  <a:srgbClr val="1F3A5F"/>
                </a:solidFill>
                <a:latin typeface="Arial"/>
              </a:rPr>
              <a:t>Team Name – </a:t>
            </a:r>
            <a:r>
              <a:rPr sz="1700" b="0" i="0">
                <a:solidFill>
                  <a:srgbClr val="1B2A3B"/>
                </a:solidFill>
                <a:latin typeface="Arial"/>
              </a:rPr>
              <a:t>Singularity@</a:t>
            </a:r>
          </a:p>
        </p:txBody>
      </p:sp>
      <p:sp>
        <p:nvSpPr>
          <p:cNvPr id="39" name="Brand lockup"/>
          <p:cNvSpPr/>
          <p:nvPr/>
        </p:nvSpPr>
        <p:spPr>
          <a:xfrm>
            <a:off x="457200" y="5669280"/>
            <a:ext cx="5257800" cy="749808"/>
          </a:xfrm>
          <a:prstGeom prst="roundRect">
            <a:avLst>
              <a:gd name="adj" fmla="val 14634"/>
            </a:avLst>
          </a:prstGeom>
          <a:solidFill>
            <a:srgbClr val="F3F7FB"/>
          </a:solidFill>
          <a:ln w="9525">
            <a:solidFill>
              <a:srgbClr val="C9D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rand lockup text"/>
          <p:cNvSpPr txBox="1"/>
          <p:nvPr/>
        </p:nvSpPr>
        <p:spPr>
          <a:xfrm>
            <a:off x="658368" y="5705856"/>
            <a:ext cx="4965192" cy="6766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 spc="120">
                <a:solidFill>
                  <a:srgbClr val="233B55"/>
                </a:solidFill>
                <a:latin typeface="Calibri"/>
              </a:rPr>
              <a:t>VARUNETRA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598C"/>
                </a:solidFill>
                <a:latin typeface="Calibri"/>
              </a:rPr>
              <a:t>Urban Flood Intelligence &amp; Response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5"/>
            </a:gs>
            <a:gs pos="100000">
              <a:srgbClr val="E8F0F6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9F5"/>
              </a:gs>
              <a:gs pos="100000">
                <a:srgbClr val="E8F0F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732520" cy="731520"/>
          </a:xfrm>
        </p:spPr>
        <p:txBody>
          <a:bodyPr anchor="ctr"/>
          <a:lstStyle/>
          <a:p>
            <a:pPr eaLnBrk="1" hangingPunct="1" algn="ctr"/>
            <a:r>
              <a:rPr sz="3000" b="1">
                <a:solidFill>
                  <a:srgbClr val="1B2A3B"/>
                </a:solidFill>
                <a:latin typeface="Times New Roman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am name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6FA8"/>
            </a:solidFill>
          </a:ln>
        </p:spPr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am name text"/>
          <p:cNvSpPr txBox="1"/>
          <p:nvPr/>
        </p:nvSpPr>
        <p:spPr>
          <a:xfrm>
            <a:off x="329773" y="252246"/>
            <a:ext cx="1251857" cy="807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3B"/>
                </a:solidFill>
                <a:latin typeface="Calibri"/>
              </a:rPr>
              <a:t>Singularity@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80" y="1078992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 spc="150">
                <a:solidFill>
                  <a:srgbClr val="233B55"/>
                </a:solidFill>
                <a:latin typeface="Calibri"/>
              </a:rPr>
              <a:t>VARUNETRA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11480" y="1591056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6FA8"/>
                </a:solidFill>
                <a:latin typeface="Calibri"/>
              </a:rPr>
              <a:t>Urban Flood Intelligence &amp; Response Platform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343400" y="1097280"/>
            <a:ext cx="743407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1A6FA8"/>
                </a:solidFill>
                <a:latin typeface="Calibri"/>
              </a:rPr>
              <a:t>PROPOSED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343400" y="1344168"/>
            <a:ext cx="743407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A3B"/>
                </a:solidFill>
                <a:latin typeface="Calibri"/>
              </a:rPr>
              <a:t>A rainfall–drainage coupled urban flood nowcasting platform that transforms rainfall forecasts into street-level flood-depth, road-impact and actionable response intelligence.</a:t>
            </a:r>
          </a:p>
        </p:txBody>
      </p:sp>
      <p:sp>
        <p:nvSpPr>
          <p:cNvPr id="15368" name="Problem"/>
          <p:cNvSpPr/>
          <p:nvPr/>
        </p:nvSpPr>
        <p:spPr>
          <a:xfrm>
            <a:off x="411480" y="2212848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BEEE8"/>
          </a:solidFill>
          <a:ln w="9525">
            <a:solidFill>
              <a:srgbClr val="E9C9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9" name="Problem text"/>
          <p:cNvSpPr txBox="1"/>
          <p:nvPr/>
        </p:nvSpPr>
        <p:spPr>
          <a:xfrm>
            <a:off x="557784" y="2258568"/>
            <a:ext cx="2441448" cy="77723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spc="100">
                <a:solidFill>
                  <a:srgbClr val="B5472A"/>
                </a:solidFill>
                <a:latin typeface="Calibri"/>
              </a:rPr>
              <a:t>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3B"/>
                </a:solidFill>
                <a:latin typeface="Calibri"/>
              </a:rPr>
              <a:t>Rainfall forecast ≠ street-level flood information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11480" y="3200400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1A6FA8"/>
                </a:solidFill>
                <a:latin typeface="Calibri"/>
              </a:rPr>
              <a:t>HOW IT ADDRESSES THE PROBLEM</a:t>
            </a:r>
          </a:p>
        </p:txBody>
      </p:sp>
      <p:cxnSp>
        <p:nvCxnSpPr>
          <p:cNvPr id="15371" name="Connector 15370"/>
          <p:cNvCxnSpPr/>
          <p:nvPr/>
        </p:nvCxnSpPr>
        <p:spPr>
          <a:xfrm>
            <a:off x="1760220" y="3566160"/>
            <a:ext cx="0" cy="2642616"/>
          </a:xfrm>
          <a:prstGeom prst="line">
            <a:avLst/>
          </a:prstGeom>
          <a:ln w="19050">
            <a:solidFill>
              <a:srgbClr val="9FB6C9"/>
            </a:solidFill>
          </a:ln>
        </p:spPr>
      </p:cxnSp>
      <p:sp>
        <p:nvSpPr>
          <p:cNvPr id="15372" name="Rounded Rectangle 15371"/>
          <p:cNvSpPr/>
          <p:nvPr/>
        </p:nvSpPr>
        <p:spPr>
          <a:xfrm>
            <a:off x="411480" y="3474720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FFFFFF"/>
          </a:solidFill>
          <a:ln w="9525">
            <a:solidFill>
              <a:srgbClr val="8FB4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1 text"/>
          <p:cNvSpPr txBox="1"/>
          <p:nvPr/>
        </p:nvSpPr>
        <p:spPr>
          <a:xfrm>
            <a:off x="484632" y="3474720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RAINFALL NOWCAST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11480" y="3794759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FFFFFF"/>
          </a:solidFill>
          <a:ln w="9525">
            <a:solidFill>
              <a:srgbClr val="8FB4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3 text"/>
          <p:cNvSpPr txBox="1"/>
          <p:nvPr/>
        </p:nvSpPr>
        <p:spPr>
          <a:xfrm>
            <a:off x="484632" y="3794759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TERRAIN / DEM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11480" y="4114800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5 text"/>
          <p:cNvSpPr txBox="1"/>
          <p:nvPr/>
        </p:nvSpPr>
        <p:spPr>
          <a:xfrm>
            <a:off x="484632" y="4114800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RUNOFF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11480" y="4434840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9" name="Rounded Rectangle 15377 text"/>
          <p:cNvSpPr txBox="1"/>
          <p:nvPr/>
        </p:nvSpPr>
        <p:spPr>
          <a:xfrm>
            <a:off x="484632" y="4434840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DRAINAGE NETWORK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11480" y="4754879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1" name="Rounded Rectangle 15379 text"/>
          <p:cNvSpPr txBox="1"/>
          <p:nvPr/>
        </p:nvSpPr>
        <p:spPr>
          <a:xfrm>
            <a:off x="484632" y="4754879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SURCHARGE / BACKFLOW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11480" y="5074920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233B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1 text"/>
          <p:cNvSpPr txBox="1"/>
          <p:nvPr/>
        </p:nvSpPr>
        <p:spPr>
          <a:xfrm>
            <a:off x="484632" y="5074920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STREET INUNDATION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411480" y="5394959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233B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3 text"/>
          <p:cNvSpPr txBox="1"/>
          <p:nvPr/>
        </p:nvSpPr>
        <p:spPr>
          <a:xfrm>
            <a:off x="484632" y="5394959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FLOOD DEPTH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411480" y="5715000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233B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7" name="Rounded Rectangle 15385 text"/>
          <p:cNvSpPr txBox="1"/>
          <p:nvPr/>
        </p:nvSpPr>
        <p:spPr>
          <a:xfrm>
            <a:off x="484632" y="5715000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ROAD IMPACT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411480" y="6035040"/>
            <a:ext cx="2697480" cy="265176"/>
          </a:xfrm>
          <a:prstGeom prst="roundRect">
            <a:avLst>
              <a:gd name="adj" fmla="val 34482"/>
            </a:avLst>
          </a:prstGeom>
          <a:solidFill>
            <a:srgbClr val="233B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9" name="Rounded Rectangle 15387 text"/>
          <p:cNvSpPr txBox="1"/>
          <p:nvPr/>
        </p:nvSpPr>
        <p:spPr>
          <a:xfrm>
            <a:off x="484632" y="6035040"/>
            <a:ext cx="255117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FLOOD-AWARE ROUTING</a:t>
            </a:r>
          </a:p>
        </p:txBody>
      </p:sp>
      <p:pic>
        <p:nvPicPr>
          <p:cNvPr id="15390" name="Picture 15389" descr="cm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212848"/>
            <a:ext cx="5486400" cy="3193256"/>
          </a:xfrm>
          <a:prstGeom prst="roundRect">
            <a:avLst>
              <a:gd name="adj" fmla="val 1718"/>
            </a:avLst>
          </a:prstGeom>
          <a:ln w="12700">
            <a:solidFill>
              <a:srgbClr val="D3DEE8"/>
            </a:solidFill>
          </a:ln>
          <a:effectLst>
            <a:outerShdw blurRad="127000" dist="38100" dir="5400000" algn="t" rotWithShape="0">
              <a:srgbClr val="1B2A3B">
                <a:alpha val="18000"/>
              </a:srgbClr>
            </a:outerShdw>
          </a:effectLst>
        </p:spPr>
      </p:pic>
      <p:sp>
        <p:nvSpPr>
          <p:cNvPr id="15391" name="TextBox 15390"/>
          <p:cNvSpPr txBox="1"/>
          <p:nvPr/>
        </p:nvSpPr>
        <p:spPr>
          <a:xfrm>
            <a:off x="3383280" y="5515832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3B"/>
                </a:solidFill>
                <a:latin typeface="Calibri"/>
              </a:rPr>
              <a:t>VARUNETRA Main Command Center — 2D Operations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5472A"/>
                </a:solidFill>
                <a:latin typeface="Calibri"/>
              </a:rPr>
              <a:t>SYNTHETIC PILOT · Patna Urban Basin · simulated outputs, not field-validated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9098280" y="2212848"/>
            <a:ext cx="26791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1A6FA8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9098280" y="2514600"/>
            <a:ext cx="267919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94" name="Rounded Rectangle 15392 text"/>
          <p:cNvSpPr txBox="1"/>
          <p:nvPr/>
        </p:nvSpPr>
        <p:spPr>
          <a:xfrm>
            <a:off x="9226296" y="2560320"/>
            <a:ext cx="2459736" cy="76809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3B55"/>
                </a:solidFill>
                <a:latin typeface="Calibri"/>
              </a:rPr>
              <a:t>1. Coupled intelligence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1576B"/>
                </a:solidFill>
                <a:latin typeface="Calibri"/>
              </a:rPr>
              <a:t>Rainfall, terrain and drainage are analysed together.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9098280" y="3447288"/>
            <a:ext cx="267919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96" name="Rounded Rectangle 15394 text"/>
          <p:cNvSpPr txBox="1"/>
          <p:nvPr/>
        </p:nvSpPr>
        <p:spPr>
          <a:xfrm>
            <a:off x="9226296" y="3493008"/>
            <a:ext cx="2459736" cy="76809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3B55"/>
                </a:solidFill>
                <a:latin typeface="Calibri"/>
              </a:rPr>
              <a:t>2. Street-level 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1576B"/>
                </a:solidFill>
                <a:latin typeface="Calibri"/>
              </a:rPr>
              <a:t>Produces spatial flood extent and depth intelligence.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9098280" y="4379976"/>
            <a:ext cx="267919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98" name="Rounded Rectangle 15396 text"/>
          <p:cNvSpPr txBox="1"/>
          <p:nvPr/>
        </p:nvSpPr>
        <p:spPr>
          <a:xfrm>
            <a:off x="9226296" y="4425696"/>
            <a:ext cx="2459736" cy="76809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3B55"/>
                </a:solidFill>
                <a:latin typeface="Calibri"/>
              </a:rPr>
              <a:t>3. Drainage-aware modelling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1576B"/>
                </a:solidFill>
                <a:latin typeface="Calibri"/>
              </a:rPr>
              <a:t>Considers surcharge and backflow instead of rainfall-only mapping.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9098280" y="5312664"/>
            <a:ext cx="267919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00" name="Rounded Rectangle 15398 text"/>
          <p:cNvSpPr txBox="1"/>
          <p:nvPr/>
        </p:nvSpPr>
        <p:spPr>
          <a:xfrm>
            <a:off x="9226296" y="5358383"/>
            <a:ext cx="2459736" cy="76809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3B55"/>
                </a:solidFill>
                <a:latin typeface="Calibri"/>
              </a:rPr>
              <a:t>4. Prediction →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1576B"/>
                </a:solidFill>
                <a:latin typeface="Calibri"/>
              </a:rPr>
              <a:t>Flood intelligence feeds road-impact analysis and operational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5"/>
            </a:gs>
            <a:gs pos="100000">
              <a:srgbClr val="E8F0F6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9F5"/>
              </a:gs>
              <a:gs pos="100000">
                <a:srgbClr val="E8F0F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732520" cy="731520"/>
          </a:xfrm>
        </p:spPr>
        <p:txBody>
          <a:bodyPr anchor="ctr"/>
          <a:lstStyle/>
          <a:p>
            <a:pPr eaLnBrk="1" hangingPunct="1" algn="ctr"/>
            <a:r>
              <a:rPr sz="3000" b="1">
                <a:solidFill>
                  <a:srgbClr val="1B2A3B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am name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6FA8"/>
            </a:solidFill>
          </a:ln>
        </p:spPr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am name text"/>
          <p:cNvSpPr txBox="1"/>
          <p:nvPr/>
        </p:nvSpPr>
        <p:spPr>
          <a:xfrm>
            <a:off x="329773" y="252246"/>
            <a:ext cx="1251857" cy="807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3B"/>
                </a:solidFill>
                <a:latin typeface="Calibri"/>
              </a:rPr>
              <a:t>Singularity@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09728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62758A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794760" y="1371600"/>
            <a:ext cx="4846320" cy="2423160"/>
          </a:xfrm>
          <a:prstGeom prst="roundRect">
            <a:avLst>
              <a:gd name="adj" fmla="val 6000"/>
            </a:avLst>
          </a:prstGeom>
          <a:solidFill>
            <a:srgbClr val="DCEA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794760" y="144475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 spc="80">
                <a:solidFill>
                  <a:srgbClr val="14598C"/>
                </a:solidFill>
                <a:latin typeface="Calibri"/>
              </a:rPr>
              <a:t>RAIN + TERRAIN + DRAINAGE COUPLING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1737360"/>
            <a:ext cx="1737360" cy="193852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4 text"/>
          <p:cNvSpPr txBox="1"/>
          <p:nvPr/>
        </p:nvSpPr>
        <p:spPr>
          <a:xfrm>
            <a:off x="521208" y="1847088"/>
            <a:ext cx="1554479" cy="1773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33B55"/>
                </a:solidFill>
                <a:latin typeface="Calibri"/>
              </a:rPr>
              <a:t>MULTI-SOURCE INPUTS</a:t>
            </a:r>
          </a:p>
          <a:p>
            <a:pPr algn="l" marL="128016" indent="-128016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150" b="0" i="0">
                <a:solidFill>
                  <a:srgbClr val="41576B"/>
                </a:solidFill>
                <a:latin typeface="Calibri"/>
              </a:rPr>
              <a:t>Rainfall / radar / weather</a:t>
            </a:r>
          </a:p>
          <a:p>
            <a:pPr algn="l" marL="128016" indent="-128016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150" b="0" i="0">
                <a:solidFill>
                  <a:srgbClr val="41576B"/>
                </a:solidFill>
                <a:latin typeface="Calibri"/>
              </a:rPr>
              <a:t>DEM / elevation</a:t>
            </a:r>
          </a:p>
          <a:p>
            <a:pPr algn="l" marL="128016" indent="-128016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150" b="0" i="0">
                <a:solidFill>
                  <a:srgbClr val="41576B"/>
                </a:solidFill>
                <a:latin typeface="Calibri"/>
              </a:rPr>
              <a:t>Land surface</a:t>
            </a:r>
          </a:p>
          <a:p>
            <a:pPr algn="l" marL="128016" indent="-128016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150" b="0" i="0">
                <a:solidFill>
                  <a:srgbClr val="41576B"/>
                </a:solidFill>
                <a:latin typeface="Calibri"/>
              </a:rPr>
              <a:t>Drainage GIS</a:t>
            </a:r>
          </a:p>
          <a:p>
            <a:pPr algn="l" marL="128016" indent="-128016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150" b="0" i="0">
                <a:solidFill>
                  <a:srgbClr val="41576B"/>
                </a:solidFill>
                <a:latin typeface="Calibri"/>
              </a:rPr>
              <a:t>Road network</a:t>
            </a:r>
          </a:p>
          <a:p>
            <a:pPr algn="l" marL="128016" indent="-128016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150" b="0" i="0">
                <a:solidFill>
                  <a:srgbClr val="41576B"/>
                </a:solidFill>
                <a:latin typeface="Calibri"/>
              </a:rPr>
              <a:t>Historical flood data</a:t>
            </a:r>
          </a:p>
        </p:txBody>
      </p:sp>
      <p:sp>
        <p:nvSpPr>
          <p:cNvPr id="17417" name="Chevron 17416"/>
          <p:cNvSpPr/>
          <p:nvPr/>
        </p:nvSpPr>
        <p:spPr>
          <a:xfrm>
            <a:off x="2185416" y="2569464"/>
            <a:ext cx="109728" cy="274320"/>
          </a:xfrm>
          <a:prstGeom prst="chevron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2331720" y="1737360"/>
            <a:ext cx="1371600" cy="193852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7 text"/>
          <p:cNvSpPr txBox="1"/>
          <p:nvPr/>
        </p:nvSpPr>
        <p:spPr>
          <a:xfrm>
            <a:off x="2441448" y="1847088"/>
            <a:ext cx="1188719" cy="1773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33B55"/>
                </a:solidFill>
                <a:latin typeface="Calibri"/>
              </a:rPr>
              <a:t>PRE-PROCESSING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Spatial alignment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Rainfall accumulation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Catchment delineation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Network preparation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3739896" y="2569464"/>
            <a:ext cx="109728" cy="274320"/>
          </a:xfrm>
          <a:prstGeom prst="chevron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3886200" y="1737360"/>
            <a:ext cx="1600200" cy="1938528"/>
          </a:xfrm>
          <a:prstGeom prst="roundRect">
            <a:avLst>
              <a:gd name="adj" fmla="val 5714"/>
            </a:avLst>
          </a:prstGeom>
          <a:solidFill>
            <a:srgbClr val="14598C"/>
          </a:solidFill>
          <a:ln>
            <a:noFill/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0 text"/>
          <p:cNvSpPr txBox="1"/>
          <p:nvPr/>
        </p:nvSpPr>
        <p:spPr>
          <a:xfrm>
            <a:off x="3995928" y="1847088"/>
            <a:ext cx="1417319" cy="1773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COUPLED FLOOD ENGINE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Surface runoff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FE0F5"/>
                </a:solidFill>
                <a:latin typeface="Calibri"/>
              </a:rPr>
              <a:t>+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Drainage hydraulic response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5522976" y="2569464"/>
            <a:ext cx="109728" cy="274320"/>
          </a:xfrm>
          <a:prstGeom prst="chevron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5669280" y="1737360"/>
            <a:ext cx="1371600" cy="1938528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3 text"/>
          <p:cNvSpPr txBox="1"/>
          <p:nvPr/>
        </p:nvSpPr>
        <p:spPr>
          <a:xfrm>
            <a:off x="5779008" y="1847088"/>
            <a:ext cx="1188719" cy="1773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SURCHARGE / BACKFLOW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Network overload and outfall backpressure</a:t>
            </a:r>
          </a:p>
        </p:txBody>
      </p:sp>
      <p:sp>
        <p:nvSpPr>
          <p:cNvPr id="17426" name="Chevron 17425"/>
          <p:cNvSpPr/>
          <p:nvPr/>
        </p:nvSpPr>
        <p:spPr>
          <a:xfrm>
            <a:off x="7077456" y="2569464"/>
            <a:ext cx="109728" cy="274320"/>
          </a:xfrm>
          <a:prstGeom prst="chevron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7223760" y="1737360"/>
            <a:ext cx="1325880" cy="1938528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6 text"/>
          <p:cNvSpPr txBox="1"/>
          <p:nvPr/>
        </p:nvSpPr>
        <p:spPr>
          <a:xfrm>
            <a:off x="7333488" y="1847088"/>
            <a:ext cx="1143000" cy="1773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FLOOD EXTENT + DEPTH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Street-level inundation extent and depth (cm)</a:t>
            </a:r>
          </a:p>
        </p:txBody>
      </p:sp>
      <p:sp>
        <p:nvSpPr>
          <p:cNvPr id="17429" name="Chevron 17428"/>
          <p:cNvSpPr/>
          <p:nvPr/>
        </p:nvSpPr>
        <p:spPr>
          <a:xfrm>
            <a:off x="8586216" y="2569464"/>
            <a:ext cx="109728" cy="274320"/>
          </a:xfrm>
          <a:prstGeom prst="chevron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8732520" y="1737360"/>
            <a:ext cx="1463040" cy="19385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1" name="Rounded Rectangle 17429 text"/>
          <p:cNvSpPr txBox="1"/>
          <p:nvPr/>
        </p:nvSpPr>
        <p:spPr>
          <a:xfrm>
            <a:off x="8842248" y="1847088"/>
            <a:ext cx="1280160" cy="1773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33B55"/>
                </a:solidFill>
                <a:latin typeface="Calibri"/>
              </a:rPr>
              <a:t>SPATIAL INTELLIGENCE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Flood hotspots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Road impact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Uncertainty</a:t>
            </a:r>
          </a:p>
        </p:txBody>
      </p:sp>
      <p:sp>
        <p:nvSpPr>
          <p:cNvPr id="17432" name="Chevron 17431"/>
          <p:cNvSpPr/>
          <p:nvPr/>
        </p:nvSpPr>
        <p:spPr>
          <a:xfrm>
            <a:off x="10232136" y="2569464"/>
            <a:ext cx="109728" cy="274320"/>
          </a:xfrm>
          <a:prstGeom prst="chevron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10378440" y="1737360"/>
            <a:ext cx="1399032" cy="1938528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2 text"/>
          <p:cNvSpPr txBox="1"/>
          <p:nvPr/>
        </p:nvSpPr>
        <p:spPr>
          <a:xfrm>
            <a:off x="10488167" y="1847088"/>
            <a:ext cx="1216152" cy="1773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33B55"/>
                </a:solidFill>
                <a:latin typeface="Calibri"/>
              </a:rPr>
              <a:t>DECISION SUPPORT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Flood-aware routing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SOS / rescue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Shelters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Pump deployment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11480" y="3977639"/>
            <a:ext cx="113659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685800" y="3977639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598C"/>
                </a:solidFill>
                <a:latin typeface="Calibri"/>
              </a:rPr>
              <a:t>0–180 MINUTE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598C"/>
                </a:solidFill>
                <a:latin typeface="Calibri"/>
              </a:rPr>
              <a:t>NOWCAST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3657600" y="4315968"/>
            <a:ext cx="7589520" cy="0"/>
          </a:xfrm>
          <a:prstGeom prst="line">
            <a:avLst/>
          </a:prstGeom>
          <a:ln w="22225">
            <a:solidFill>
              <a:srgbClr val="9FB6C9"/>
            </a:solidFill>
          </a:ln>
        </p:spPr>
      </p:cxnSp>
      <p:sp>
        <p:nvSpPr>
          <p:cNvPr id="17438" name="Oval 17437"/>
          <p:cNvSpPr/>
          <p:nvPr/>
        </p:nvSpPr>
        <p:spPr>
          <a:xfrm>
            <a:off x="3575304" y="4233672"/>
            <a:ext cx="164592" cy="164592"/>
          </a:xfrm>
          <a:prstGeom prst="ellipse">
            <a:avLst/>
          </a:prstGeom>
          <a:solidFill>
            <a:srgbClr val="14598C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3291840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598C"/>
                </a:solidFill>
                <a:latin typeface="Calibri"/>
              </a:rPr>
              <a:t>NOW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4523994" y="423367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4240529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1576B"/>
                </a:solidFill>
                <a:latin typeface="Calibri"/>
              </a:rPr>
              <a:t>+15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5472684" y="423367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5189220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1576B"/>
                </a:solidFill>
                <a:latin typeface="Calibri"/>
              </a:rPr>
              <a:t>+30</a:t>
            </a:r>
          </a:p>
        </p:txBody>
      </p:sp>
      <p:sp>
        <p:nvSpPr>
          <p:cNvPr id="17444" name="Oval 17443"/>
          <p:cNvSpPr/>
          <p:nvPr/>
        </p:nvSpPr>
        <p:spPr>
          <a:xfrm>
            <a:off x="6421374" y="423367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6137910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1576B"/>
                </a:solidFill>
                <a:latin typeface="Calibri"/>
              </a:rPr>
              <a:t>+45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7370064" y="423367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7086600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1576B"/>
                </a:solidFill>
                <a:latin typeface="Calibri"/>
              </a:rPr>
              <a:t>+60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8318754" y="423367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8035290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1576B"/>
                </a:solidFill>
                <a:latin typeface="Calibri"/>
              </a:rPr>
              <a:t>+90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9267444" y="423367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983980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1576B"/>
                </a:solidFill>
                <a:latin typeface="Calibri"/>
              </a:rPr>
              <a:t>+120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10216134" y="423367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9932670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1576B"/>
                </a:solidFill>
                <a:latin typeface="Calibri"/>
              </a:rPr>
              <a:t>+150</a:t>
            </a:r>
          </a:p>
        </p:txBody>
      </p:sp>
      <p:sp>
        <p:nvSpPr>
          <p:cNvPr id="17454" name="Oval 17453"/>
          <p:cNvSpPr/>
          <p:nvPr/>
        </p:nvSpPr>
        <p:spPr>
          <a:xfrm>
            <a:off x="11164824" y="4233672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5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10881360" y="446227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1576B"/>
                </a:solidFill>
                <a:latin typeface="Calibri"/>
              </a:rPr>
              <a:t>+180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11480" y="4974336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62758A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411480" y="5212080"/>
            <a:ext cx="11365992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685800" y="530352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 spc="80">
                <a:solidFill>
                  <a:srgbClr val="1A6FA8"/>
                </a:solidFill>
                <a:latin typeface="Calibri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B2A3B"/>
                </a:solidFill>
                <a:latin typeface="Calibri"/>
              </a:rPr>
              <a:t>React + TypeScript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B2A3B"/>
                </a:solidFill>
                <a:latin typeface="Calibri"/>
              </a:rPr>
              <a:t>Leaflet + CesiumJS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3200400" y="5321808"/>
            <a:ext cx="0" cy="758952"/>
          </a:xfrm>
          <a:prstGeom prst="line">
            <a:avLst/>
          </a:prstGeom>
          <a:ln w="12700">
            <a:solidFill>
              <a:srgbClr val="D3DEE8"/>
            </a:solidFill>
          </a:ln>
        </p:spPr>
      </p:cxnSp>
      <p:sp>
        <p:nvSpPr>
          <p:cNvPr id="17460" name="TextBox 17459"/>
          <p:cNvSpPr txBox="1"/>
          <p:nvPr/>
        </p:nvSpPr>
        <p:spPr>
          <a:xfrm>
            <a:off x="3337560" y="530352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 spc="80">
                <a:solidFill>
                  <a:srgbClr val="1A6FA8"/>
                </a:solidFill>
                <a:latin typeface="Calibri"/>
              </a:rPr>
              <a:t>BACKEND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B2A3B"/>
                </a:solidFill>
                <a:latin typeface="Calibri"/>
              </a:rPr>
              <a:t>Python + FastAPI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5577840" y="5321808"/>
            <a:ext cx="0" cy="758952"/>
          </a:xfrm>
          <a:prstGeom prst="line">
            <a:avLst/>
          </a:prstGeom>
          <a:ln w="12700">
            <a:solidFill>
              <a:srgbClr val="D3DEE8"/>
            </a:solidFill>
          </a:ln>
        </p:spPr>
      </p:cxnSp>
      <p:sp>
        <p:nvSpPr>
          <p:cNvPr id="17462" name="TextBox 17461"/>
          <p:cNvSpPr txBox="1"/>
          <p:nvPr/>
        </p:nvSpPr>
        <p:spPr>
          <a:xfrm>
            <a:off x="5715000" y="530352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 spc="80">
                <a:solidFill>
                  <a:srgbClr val="1A6FA8"/>
                </a:solidFill>
                <a:latin typeface="Calibri"/>
              </a:rPr>
              <a:t>GEOSPATIAL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B2A3B"/>
                </a:solidFill>
                <a:latin typeface="Calibri"/>
              </a:rPr>
              <a:t>PostgreSQL + PostGIS</a:t>
            </a:r>
          </a:p>
        </p:txBody>
      </p:sp>
      <p:cxnSp>
        <p:nvCxnSpPr>
          <p:cNvPr id="17463" name="Connector 17462"/>
          <p:cNvCxnSpPr/>
          <p:nvPr/>
        </p:nvCxnSpPr>
        <p:spPr>
          <a:xfrm>
            <a:off x="8229600" y="5321808"/>
            <a:ext cx="0" cy="758952"/>
          </a:xfrm>
          <a:prstGeom prst="line">
            <a:avLst/>
          </a:prstGeom>
          <a:ln w="12700">
            <a:solidFill>
              <a:srgbClr val="D3DEE8"/>
            </a:solidFill>
          </a:ln>
        </p:spPr>
      </p:cxnSp>
      <p:sp>
        <p:nvSpPr>
          <p:cNvPr id="17464" name="TextBox 17463"/>
          <p:cNvSpPr txBox="1"/>
          <p:nvPr/>
        </p:nvSpPr>
        <p:spPr>
          <a:xfrm>
            <a:off x="8366760" y="5303520"/>
            <a:ext cx="34290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 spc="80">
                <a:solidFill>
                  <a:srgbClr val="1A6FA8"/>
                </a:solidFill>
                <a:latin typeface="Calibri"/>
              </a:rPr>
              <a:t>MODELLING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B2A3B"/>
                </a:solidFill>
                <a:latin typeface="Calibri"/>
              </a:rPr>
              <a:t>Hydrologic / hydraulic simulation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B2A3B"/>
                </a:solidFill>
                <a:latin typeface="Calibri"/>
              </a:rPr>
              <a:t>Drainage network modelling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1B2A3B"/>
                </a:solidFill>
                <a:latin typeface="Calibri"/>
              </a:rPr>
              <a:t>ML surrogate + explainability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5"/>
            </a:gs>
            <a:gs pos="100000">
              <a:srgbClr val="E8F0F6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9F5"/>
              </a:gs>
              <a:gs pos="100000">
                <a:srgbClr val="E8F0F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732520" cy="731520"/>
          </a:xfrm>
        </p:spPr>
        <p:txBody>
          <a:bodyPr anchor="ctr"/>
          <a:lstStyle/>
          <a:p>
            <a:pPr eaLnBrk="1" hangingPunct="1" algn="ctr"/>
            <a:r>
              <a:rPr sz="3000" b="1">
                <a:solidFill>
                  <a:srgbClr val="1B2A3B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Team name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6FA8"/>
            </a:solidFill>
          </a:ln>
        </p:spPr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am name text"/>
          <p:cNvSpPr txBox="1"/>
          <p:nvPr/>
        </p:nvSpPr>
        <p:spPr>
          <a:xfrm>
            <a:off x="329773" y="252246"/>
            <a:ext cx="1251857" cy="807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3B"/>
                </a:solidFill>
                <a:latin typeface="Calibri"/>
              </a:rPr>
              <a:t>Singularity@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0972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4598C"/>
                </a:solidFill>
                <a:latin typeface="Calibri"/>
              </a:rPr>
              <a:t>TECHNICAL FEASIBILITY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818120" y="1042415"/>
            <a:ext cx="3959352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2 text"/>
          <p:cNvSpPr txBox="1"/>
          <p:nvPr/>
        </p:nvSpPr>
        <p:spPr>
          <a:xfrm>
            <a:off x="7891272" y="1042415"/>
            <a:ext cx="38130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Pilot geography: </a:t>
            </a:r>
            <a:r>
              <a:rPr sz="1100" b="0" i="0">
                <a:solidFill>
                  <a:srgbClr val="1B2A3B"/>
                </a:solidFill>
                <a:latin typeface="Calibri"/>
              </a:rPr>
              <a:t>synthetic Patna Urban Basin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1444752"/>
            <a:ext cx="17800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4 text"/>
          <p:cNvSpPr txBox="1"/>
          <p:nvPr/>
        </p:nvSpPr>
        <p:spPr>
          <a:xfrm>
            <a:off x="557784" y="1600200"/>
            <a:ext cx="154228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FAAD0"/>
                </a:solidFill>
                <a:latin typeface="Calibr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B55"/>
                </a:solidFill>
                <a:latin typeface="Calibri"/>
              </a:rPr>
              <a:t>Modular data-provider architecture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1609344"/>
            <a:ext cx="54864" cy="585216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2328672" y="1444752"/>
            <a:ext cx="17800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7 text"/>
          <p:cNvSpPr txBox="1"/>
          <p:nvPr/>
        </p:nvSpPr>
        <p:spPr>
          <a:xfrm>
            <a:off x="2474976" y="1600200"/>
            <a:ext cx="154228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FAAD0"/>
                </a:solidFill>
                <a:latin typeface="Calibr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B55"/>
                </a:solidFill>
                <a:latin typeface="Calibri"/>
              </a:rPr>
              <a:t>Coupled surface + drainage modelling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328672" y="1609344"/>
            <a:ext cx="54864" cy="585216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245864" y="1444752"/>
            <a:ext cx="17800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0 text"/>
          <p:cNvSpPr txBox="1"/>
          <p:nvPr/>
        </p:nvSpPr>
        <p:spPr>
          <a:xfrm>
            <a:off x="4392168" y="1600200"/>
            <a:ext cx="154228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FAAD0"/>
                </a:solidFill>
                <a:latin typeface="Calibr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B55"/>
                </a:solidFill>
                <a:latin typeface="Calibri"/>
              </a:rPr>
              <a:t>GIS-based spatial outputs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245864" y="1609344"/>
            <a:ext cx="54864" cy="585216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163056" y="1444752"/>
            <a:ext cx="17800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3 text"/>
          <p:cNvSpPr txBox="1"/>
          <p:nvPr/>
        </p:nvSpPr>
        <p:spPr>
          <a:xfrm>
            <a:off x="6309360" y="1600200"/>
            <a:ext cx="154228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FAAD0"/>
                </a:solidFill>
                <a:latin typeface="Calibri"/>
              </a:rP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B55"/>
                </a:solidFill>
                <a:latin typeface="Calibri"/>
              </a:rPr>
              <a:t>API-driven decision support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63056" y="1609344"/>
            <a:ext cx="54864" cy="585216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8080247" y="1444752"/>
            <a:ext cx="17800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6 text"/>
          <p:cNvSpPr txBox="1"/>
          <p:nvPr/>
        </p:nvSpPr>
        <p:spPr>
          <a:xfrm>
            <a:off x="8226551" y="1600200"/>
            <a:ext cx="154228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FAAD0"/>
                </a:solidFill>
                <a:latin typeface="Calibri"/>
              </a:rPr>
              <a:t>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B55"/>
                </a:solidFill>
                <a:latin typeface="Calibri"/>
              </a:rPr>
              <a:t>Catchment-based deployment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080247" y="1609344"/>
            <a:ext cx="54864" cy="585216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9997440" y="1444752"/>
            <a:ext cx="17800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1" name="Rounded Rectangle 17429 text"/>
          <p:cNvSpPr txBox="1"/>
          <p:nvPr/>
        </p:nvSpPr>
        <p:spPr>
          <a:xfrm>
            <a:off x="10143744" y="1600200"/>
            <a:ext cx="154228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FAAD0"/>
                </a:solidFill>
                <a:latin typeface="Calibri"/>
              </a:rPr>
              <a:t>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B55"/>
                </a:solidFill>
                <a:latin typeface="Calibri"/>
              </a:rPr>
              <a:t>2D + 3D visualization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997440" y="1609344"/>
            <a:ext cx="54864" cy="585216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11480" y="2560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B5472A"/>
                </a:solidFill>
                <a:latin typeface="Calibri"/>
              </a:rPr>
              <a:t>KEY CHALLENGES  →  MITIGATION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11480" y="2834640"/>
            <a:ext cx="2601468" cy="1188720"/>
          </a:xfrm>
          <a:prstGeom prst="roundRect">
            <a:avLst>
              <a:gd name="adj" fmla="val 7692"/>
            </a:avLst>
          </a:prstGeom>
          <a:solidFill>
            <a:srgbClr val="FBEEE8"/>
          </a:solidFill>
          <a:ln w="9525">
            <a:solidFill>
              <a:srgbClr val="E9C9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3 text"/>
          <p:cNvSpPr txBox="1"/>
          <p:nvPr/>
        </p:nvSpPr>
        <p:spPr>
          <a:xfrm>
            <a:off x="557784" y="2926080"/>
            <a:ext cx="2363724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B5472A"/>
                </a:solidFill>
                <a:latin typeface="Calibri"/>
              </a:rPr>
              <a:t>CHALLENGE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A3B"/>
                </a:solidFill>
                <a:latin typeface="Calibri"/>
              </a:rPr>
              <a:t>Drainage data availability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Network topology, capacity and asset data may be incomplete.</a:t>
            </a:r>
          </a:p>
        </p:txBody>
      </p:sp>
      <p:sp>
        <p:nvSpPr>
          <p:cNvPr id="17436" name="Right Arrow 17435"/>
          <p:cNvSpPr/>
          <p:nvPr/>
        </p:nvSpPr>
        <p:spPr>
          <a:xfrm>
            <a:off x="3067812" y="3300984"/>
            <a:ext cx="256032" cy="256032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3378708" y="2834640"/>
            <a:ext cx="2601468" cy="1188720"/>
          </a:xfrm>
          <a:prstGeom prst="roundRect">
            <a:avLst>
              <a:gd name="adj" fmla="val 7692"/>
            </a:avLst>
          </a:prstGeom>
          <a:solidFill>
            <a:srgbClr val="E4F3F0"/>
          </a:solidFill>
          <a:ln w="9525">
            <a:solidFill>
              <a:srgbClr val="BFDC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6 text"/>
          <p:cNvSpPr txBox="1"/>
          <p:nvPr/>
        </p:nvSpPr>
        <p:spPr>
          <a:xfrm>
            <a:off x="3525012" y="2926080"/>
            <a:ext cx="2363724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1E7C74"/>
                </a:solidFill>
                <a:latin typeface="Calibri"/>
              </a:rPr>
              <a:t>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A3B"/>
                </a:solidFill>
                <a:latin typeface="Calibri"/>
              </a:rPr>
              <a:t>Data adapters + provenance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Every layer labelled REAL / SIMULATED / SYNTHETIC / DEMO / CACHED.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208776" y="2834640"/>
            <a:ext cx="2601468" cy="1188720"/>
          </a:xfrm>
          <a:prstGeom prst="roundRect">
            <a:avLst>
              <a:gd name="adj" fmla="val 7692"/>
            </a:avLst>
          </a:prstGeom>
          <a:solidFill>
            <a:srgbClr val="FBEEE8"/>
          </a:solidFill>
          <a:ln w="9525">
            <a:solidFill>
              <a:srgbClr val="E9C9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8 text"/>
          <p:cNvSpPr txBox="1"/>
          <p:nvPr/>
        </p:nvSpPr>
        <p:spPr>
          <a:xfrm>
            <a:off x="6355080" y="2926080"/>
            <a:ext cx="2363724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B5472A"/>
                </a:solidFill>
                <a:latin typeface="Calibri"/>
              </a:rPr>
              <a:t>CHALLENGE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A3B"/>
                </a:solidFill>
                <a:latin typeface="Calibri"/>
              </a:rPr>
              <a:t>Local calibration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Urban hydraulic behaviour varies by catchment.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8865108" y="3300984"/>
            <a:ext cx="256032" cy="256032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9176004" y="2834640"/>
            <a:ext cx="2601468" cy="1188720"/>
          </a:xfrm>
          <a:prstGeom prst="roundRect">
            <a:avLst>
              <a:gd name="adj" fmla="val 7692"/>
            </a:avLst>
          </a:prstGeom>
          <a:solidFill>
            <a:srgbClr val="E4F3F0"/>
          </a:solidFill>
          <a:ln w="9525">
            <a:solidFill>
              <a:srgbClr val="BFDC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1 text"/>
          <p:cNvSpPr txBox="1"/>
          <p:nvPr/>
        </p:nvSpPr>
        <p:spPr>
          <a:xfrm>
            <a:off x="9322308" y="2926080"/>
            <a:ext cx="2363724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1E7C74"/>
                </a:solidFill>
                <a:latin typeface="Calibri"/>
              </a:rPr>
              <a:t>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A3B"/>
                </a:solidFill>
                <a:latin typeface="Calibri"/>
              </a:rPr>
              <a:t>Event-based calibration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Use historical rainfall and observed inundation where available.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11480" y="4133087"/>
            <a:ext cx="2601468" cy="1188720"/>
          </a:xfrm>
          <a:prstGeom prst="roundRect">
            <a:avLst>
              <a:gd name="adj" fmla="val 7692"/>
            </a:avLst>
          </a:prstGeom>
          <a:solidFill>
            <a:srgbClr val="FBEEE8"/>
          </a:solidFill>
          <a:ln w="9525">
            <a:solidFill>
              <a:srgbClr val="E9C9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3 text"/>
          <p:cNvSpPr txBox="1"/>
          <p:nvPr/>
        </p:nvSpPr>
        <p:spPr>
          <a:xfrm>
            <a:off x="557784" y="4224527"/>
            <a:ext cx="2363724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B5472A"/>
                </a:solidFill>
                <a:latin typeface="Calibri"/>
              </a:rPr>
              <a:t>CHALLENGE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A3B"/>
                </a:solidFill>
                <a:latin typeface="Calibri"/>
              </a:rPr>
              <a:t>Live-data access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Operational feeds may require approved credentials.</a:t>
            </a:r>
          </a:p>
        </p:txBody>
      </p:sp>
      <p:sp>
        <p:nvSpPr>
          <p:cNvPr id="17446" name="Right Arrow 17445"/>
          <p:cNvSpPr/>
          <p:nvPr/>
        </p:nvSpPr>
        <p:spPr>
          <a:xfrm>
            <a:off x="3067812" y="4599432"/>
            <a:ext cx="256032" cy="256032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7" name="Rounded Rectangle 17446"/>
          <p:cNvSpPr/>
          <p:nvPr/>
        </p:nvSpPr>
        <p:spPr>
          <a:xfrm>
            <a:off x="3378708" y="4133087"/>
            <a:ext cx="2601468" cy="1188720"/>
          </a:xfrm>
          <a:prstGeom prst="roundRect">
            <a:avLst>
              <a:gd name="adj" fmla="val 7692"/>
            </a:avLst>
          </a:prstGeom>
          <a:solidFill>
            <a:srgbClr val="E4F3F0"/>
          </a:solidFill>
          <a:ln w="9525">
            <a:solidFill>
              <a:srgbClr val="BFDC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8" name="Rounded Rectangle 17446 text"/>
          <p:cNvSpPr txBox="1"/>
          <p:nvPr/>
        </p:nvSpPr>
        <p:spPr>
          <a:xfrm>
            <a:off x="3525012" y="4224527"/>
            <a:ext cx="2363724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1E7C74"/>
                </a:solidFill>
                <a:latin typeface="Calibri"/>
              </a:rPr>
              <a:t>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A3B"/>
                </a:solidFill>
                <a:latin typeface="Calibri"/>
              </a:rPr>
              <a:t>Physics + 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Physics-based modelling as engineering reference; ML as accelerator / surrogate where justified.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208776" y="4133087"/>
            <a:ext cx="2601468" cy="1188720"/>
          </a:xfrm>
          <a:prstGeom prst="roundRect">
            <a:avLst>
              <a:gd name="adj" fmla="val 7692"/>
            </a:avLst>
          </a:prstGeom>
          <a:solidFill>
            <a:srgbClr val="FBEEE8"/>
          </a:solidFill>
          <a:ln w="9525">
            <a:solidFill>
              <a:srgbClr val="E9C9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0" name="Rounded Rectangle 17448 text"/>
          <p:cNvSpPr txBox="1"/>
          <p:nvPr/>
        </p:nvSpPr>
        <p:spPr>
          <a:xfrm>
            <a:off x="6355080" y="4224527"/>
            <a:ext cx="2363724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B5472A"/>
                </a:solidFill>
                <a:latin typeface="Calibri"/>
              </a:rPr>
              <a:t>CHALLENGE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A3B"/>
                </a:solidFill>
                <a:latin typeface="Calibri"/>
              </a:rPr>
              <a:t>Computational cost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High-resolution simulation can be expensive.</a:t>
            </a:r>
          </a:p>
        </p:txBody>
      </p:sp>
      <p:sp>
        <p:nvSpPr>
          <p:cNvPr id="17451" name="Right Arrow 17450"/>
          <p:cNvSpPr/>
          <p:nvPr/>
        </p:nvSpPr>
        <p:spPr>
          <a:xfrm>
            <a:off x="8865108" y="4599432"/>
            <a:ext cx="256032" cy="256032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2" name="Rounded Rectangle 17451"/>
          <p:cNvSpPr/>
          <p:nvPr/>
        </p:nvSpPr>
        <p:spPr>
          <a:xfrm>
            <a:off x="9176004" y="4133087"/>
            <a:ext cx="2601468" cy="1188720"/>
          </a:xfrm>
          <a:prstGeom prst="roundRect">
            <a:avLst>
              <a:gd name="adj" fmla="val 7692"/>
            </a:avLst>
          </a:prstGeom>
          <a:solidFill>
            <a:srgbClr val="E4F3F0"/>
          </a:solidFill>
          <a:ln w="9525">
            <a:solidFill>
              <a:srgbClr val="BFDC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3" name="Rounded Rectangle 17451 text"/>
          <p:cNvSpPr txBox="1"/>
          <p:nvPr/>
        </p:nvSpPr>
        <p:spPr>
          <a:xfrm>
            <a:off x="9322308" y="4224527"/>
            <a:ext cx="2363724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1E7C74"/>
                </a:solidFill>
                <a:latin typeface="Calibri"/>
              </a:rPr>
              <a:t>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A3B"/>
                </a:solidFill>
                <a:latin typeface="Calibri"/>
              </a:rPr>
              <a:t>Incremental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1576B"/>
                </a:solidFill>
                <a:latin typeface="Calibri"/>
              </a:rPr>
              <a:t>Start with a catchment / ward and scale after validation.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11480" y="5458968"/>
            <a:ext cx="11365992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640080" y="550468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spc="60">
                <a:solidFill>
                  <a:srgbClr val="14598C"/>
                </a:solidFill>
                <a:latin typeface="Calibri"/>
              </a:rPr>
              <a:t>PROTOTYPE 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B5472A"/>
                </a:solidFill>
                <a:latin typeface="Calibri"/>
              </a:rPr>
              <a:t>Software / prototype validation only — not field validation.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3703320" y="5550407"/>
            <a:ext cx="1573865" cy="274320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7" name="Rounded Rectangle 17455 text"/>
          <p:cNvSpPr txBox="1"/>
          <p:nvPr/>
        </p:nvSpPr>
        <p:spPr>
          <a:xfrm>
            <a:off x="3776472" y="5550407"/>
            <a:ext cx="142756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0–180 min Nowcast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5386913" y="5550407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9" name="Rounded Rectangle 17457 text"/>
          <p:cNvSpPr txBox="1"/>
          <p:nvPr/>
        </p:nvSpPr>
        <p:spPr>
          <a:xfrm>
            <a:off x="5460065" y="5550407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2D GIS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6365321" y="5550407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1" name="Rounded Rectangle 17459 text"/>
          <p:cNvSpPr txBox="1"/>
          <p:nvPr/>
        </p:nvSpPr>
        <p:spPr>
          <a:xfrm>
            <a:off x="6438473" y="5550407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3D City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7343729" y="5550407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3" name="Rounded Rectangle 17461 text"/>
          <p:cNvSpPr txBox="1"/>
          <p:nvPr/>
        </p:nvSpPr>
        <p:spPr>
          <a:xfrm>
            <a:off x="7416880" y="5550407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Routing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322137" y="5550407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5" name="Rounded Rectangle 17463 text"/>
          <p:cNvSpPr txBox="1"/>
          <p:nvPr/>
        </p:nvSpPr>
        <p:spPr>
          <a:xfrm>
            <a:off x="8395289" y="5550407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SOS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9300545" y="5550407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7" name="Rounded Rectangle 17465 text"/>
          <p:cNvSpPr txBox="1"/>
          <p:nvPr/>
        </p:nvSpPr>
        <p:spPr>
          <a:xfrm>
            <a:off x="9373697" y="5550407"/>
            <a:ext cx="72237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598C"/>
                </a:solidFill>
                <a:latin typeface="Calibri"/>
              </a:rPr>
              <a:t>Pumps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3703320" y="5879592"/>
            <a:ext cx="3026298" cy="274320"/>
          </a:xfrm>
          <a:prstGeom prst="roundRect">
            <a:avLst>
              <a:gd name="adj" fmla="val 50000"/>
            </a:avLst>
          </a:prstGeom>
          <a:solidFill>
            <a:srgbClr val="E4F3F0"/>
          </a:solidFill>
          <a:ln w="9525">
            <a:solidFill>
              <a:srgbClr val="BFDC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9" name="Rounded Rectangle 17467 text"/>
          <p:cNvSpPr txBox="1"/>
          <p:nvPr/>
        </p:nvSpPr>
        <p:spPr>
          <a:xfrm>
            <a:off x="3776472" y="5879592"/>
            <a:ext cx="287999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7C74"/>
                </a:solidFill>
                <a:latin typeface="Calibri"/>
              </a:rPr>
              <a:t>11/11 automated backend tests passed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6839346" y="5879592"/>
            <a:ext cx="2720522" cy="274320"/>
          </a:xfrm>
          <a:prstGeom prst="roundRect">
            <a:avLst>
              <a:gd name="adj" fmla="val 50000"/>
            </a:avLst>
          </a:prstGeom>
          <a:solidFill>
            <a:srgbClr val="E4F3F0"/>
          </a:solidFill>
          <a:ln w="9525">
            <a:solidFill>
              <a:srgbClr val="BFDC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1" name="Rounded Rectangle 17469 text"/>
          <p:cNvSpPr txBox="1"/>
          <p:nvPr/>
        </p:nvSpPr>
        <p:spPr>
          <a:xfrm>
            <a:off x="6912498" y="5879592"/>
            <a:ext cx="257421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7C74"/>
                </a:solidFill>
                <a:latin typeface="Calibri"/>
              </a:rPr>
              <a:t>Frontend production build passed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5"/>
            </a:gs>
            <a:gs pos="100000">
              <a:srgbClr val="E8F0F6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9F5"/>
              </a:gs>
              <a:gs pos="100000">
                <a:srgbClr val="E8F0F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732520" cy="731520"/>
          </a:xfrm>
        </p:spPr>
        <p:txBody>
          <a:bodyPr anchor="ctr"/>
          <a:lstStyle/>
          <a:p>
            <a:pPr eaLnBrk="1" hangingPunct="1" algn="ctr"/>
            <a:r>
              <a:rPr sz="3000" b="1">
                <a:solidFill>
                  <a:srgbClr val="1B2A3B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Team name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6FA8"/>
            </a:solidFill>
          </a:ln>
        </p:spPr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am name text"/>
          <p:cNvSpPr txBox="1"/>
          <p:nvPr/>
        </p:nvSpPr>
        <p:spPr>
          <a:xfrm>
            <a:off x="329773" y="252246"/>
            <a:ext cx="1251857" cy="807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3B"/>
                </a:solidFill>
                <a:latin typeface="Calibri"/>
              </a:rPr>
              <a:t>Singularity@</a:t>
            </a:r>
          </a:p>
        </p:txBody>
      </p:sp>
      <p:sp>
        <p:nvSpPr>
          <p:cNvPr id="17412" name="Pentagon 17411"/>
          <p:cNvSpPr/>
          <p:nvPr/>
        </p:nvSpPr>
        <p:spPr>
          <a:xfrm>
            <a:off x="411480" y="1097280"/>
            <a:ext cx="2011680" cy="502920"/>
          </a:xfrm>
          <a:prstGeom prst="homePlate">
            <a:avLst>
              <a:gd name="adj" fmla="val 28000"/>
            </a:avLst>
          </a:prstGeom>
          <a:solidFill>
            <a:srgbClr val="3A8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3" name="Pentagon 17411 text"/>
          <p:cNvSpPr txBox="1"/>
          <p:nvPr/>
        </p:nvSpPr>
        <p:spPr>
          <a:xfrm>
            <a:off x="502920" y="109728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Calibri"/>
              </a:rPr>
              <a:t>PREDICT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2282342" y="1097280"/>
            <a:ext cx="2011680" cy="502920"/>
          </a:xfrm>
          <a:prstGeom prst="chevron">
            <a:avLst>
              <a:gd name="adj" fmla="val 28000"/>
            </a:avLst>
          </a:prstGeom>
          <a:solidFill>
            <a:srgbClr val="2F7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5" name="Chevron 17413 text"/>
          <p:cNvSpPr txBox="1"/>
          <p:nvPr/>
        </p:nvSpPr>
        <p:spPr>
          <a:xfrm>
            <a:off x="2556661" y="10972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Calibri"/>
              </a:rPr>
              <a:t>WARN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4153204" y="1097280"/>
            <a:ext cx="2011680" cy="502920"/>
          </a:xfrm>
          <a:prstGeom prst="chevron">
            <a:avLst>
              <a:gd name="adj" fmla="val 28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7" name="Chevron 17415 text"/>
          <p:cNvSpPr txBox="1"/>
          <p:nvPr/>
        </p:nvSpPr>
        <p:spPr>
          <a:xfrm>
            <a:off x="4427524" y="10972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7418" name="Chevron 17417"/>
          <p:cNvSpPr/>
          <p:nvPr/>
        </p:nvSpPr>
        <p:spPr>
          <a:xfrm>
            <a:off x="6024067" y="1097280"/>
            <a:ext cx="2011680" cy="502920"/>
          </a:xfrm>
          <a:prstGeom prst="chevron">
            <a:avLst>
              <a:gd name="adj" fmla="val 28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9" name="Chevron 17417 text"/>
          <p:cNvSpPr txBox="1"/>
          <p:nvPr/>
        </p:nvSpPr>
        <p:spPr>
          <a:xfrm>
            <a:off x="6298387" y="10972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7894929" y="1097280"/>
            <a:ext cx="2011680" cy="502920"/>
          </a:xfrm>
          <a:prstGeom prst="chevron">
            <a:avLst>
              <a:gd name="adj" fmla="val 28000"/>
            </a:avLst>
          </a:prstGeom>
          <a:solidFill>
            <a:srgbClr val="1459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Chevron 17419 text"/>
          <p:cNvSpPr txBox="1"/>
          <p:nvPr/>
        </p:nvSpPr>
        <p:spPr>
          <a:xfrm>
            <a:off x="8169249" y="10972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Calibri"/>
              </a:rPr>
              <a:t>RESPOND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9765792" y="1097280"/>
            <a:ext cx="2011680" cy="502920"/>
          </a:xfrm>
          <a:prstGeom prst="chevron">
            <a:avLst>
              <a:gd name="adj" fmla="val 28000"/>
            </a:avLst>
          </a:prstGeom>
          <a:solidFill>
            <a:srgbClr val="233B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3" name="Chevron 17421 text"/>
          <p:cNvSpPr txBox="1"/>
          <p:nvPr/>
        </p:nvSpPr>
        <p:spPr>
          <a:xfrm>
            <a:off x="10040112" y="10972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Calibri"/>
              </a:rPr>
              <a:t>RECOVER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11480" y="173736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62758A"/>
                </a:solidFill>
                <a:latin typeface="Calibri"/>
              </a:rPr>
              <a:t>POTENTIAL IMPACT ON TARGET AUDIENCE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11480" y="1984248"/>
            <a:ext cx="3721608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411480" y="2167128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667512" y="2103120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30">
                <a:solidFill>
                  <a:srgbClr val="14598C"/>
                </a:solidFill>
                <a:latin typeface="Calibri"/>
              </a:rPr>
              <a:t>MUNICIPAL / DISASTER AUTHORITIES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67512" y="2395728"/>
            <a:ext cx="33558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Street-level situation awareness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Drainage stress monitoring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Flood hotspot identification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Response prioritisation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261104" y="1984248"/>
            <a:ext cx="3721608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261104" y="2167128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4517136" y="2103120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30">
                <a:solidFill>
                  <a:srgbClr val="14598C"/>
                </a:solidFill>
                <a:latin typeface="Calibri"/>
              </a:rPr>
              <a:t>EMERGENCY SERVICES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517136" y="2395728"/>
            <a:ext cx="33558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Flood-aware routing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SOS prioritisation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Rescue dispatch support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Shelter accessibility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11480" y="3511296"/>
            <a:ext cx="3721608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411480" y="3694176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67512" y="3630168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30">
                <a:solidFill>
                  <a:srgbClr val="14598C"/>
                </a:solidFill>
                <a:latin typeface="Calibri"/>
              </a:rPr>
              <a:t>CITIZENS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67512" y="3922776"/>
            <a:ext cx="33558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Localised flood awareness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Impacted-road visibility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Alternative-route information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Shelter discovery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261104" y="3511296"/>
            <a:ext cx="3721608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4261104" y="3694176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4517136" y="3630168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30">
                <a:solidFill>
                  <a:srgbClr val="14598C"/>
                </a:solidFill>
                <a:latin typeface="Calibri"/>
              </a:rPr>
              <a:t>RECOVERY TEAMS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517136" y="3922776"/>
            <a:ext cx="33558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Damage assessment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Road restoration prioritisation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Pump / dewatering coordination</a:t>
            </a:r>
          </a:p>
          <a:p>
            <a:pPr algn="l" marL="155448" indent="-155448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250" b="0" i="0">
                <a:solidFill>
                  <a:srgbClr val="1B2A3B"/>
                </a:solidFill>
                <a:latin typeface="Calibri"/>
              </a:rPr>
              <a:t>Post-event analysis</a:t>
            </a:r>
          </a:p>
        </p:txBody>
      </p:sp>
      <p:pic>
        <p:nvPicPr>
          <p:cNvPr id="17441" name="Picture 17440" descr="r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1" y="1984248"/>
            <a:ext cx="3520440" cy="2399406"/>
          </a:xfrm>
          <a:prstGeom prst="roundRect">
            <a:avLst>
              <a:gd name="adj" fmla="val 2286"/>
            </a:avLst>
          </a:prstGeom>
          <a:ln w="12700">
            <a:solidFill>
              <a:srgbClr val="D3DEE8"/>
            </a:solidFill>
          </a:ln>
          <a:effectLst>
            <a:outerShdw blurRad="127000" dist="38100" dir="5400000" algn="t" rotWithShape="0">
              <a:srgbClr val="1B2A3B">
                <a:alpha val="18000"/>
              </a:srgbClr>
            </a:outerShdw>
          </a:effectLst>
        </p:spPr>
      </p:pic>
      <p:sp>
        <p:nvSpPr>
          <p:cNvPr id="17442" name="TextBox 17441"/>
          <p:cNvSpPr txBox="1"/>
          <p:nvPr/>
        </p:nvSpPr>
        <p:spPr>
          <a:xfrm>
            <a:off x="8257031" y="4456806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62758A"/>
                </a:solidFill>
                <a:latin typeface="Calibri"/>
              </a:rPr>
              <a:t>Routing console · synthetic pilot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2758A"/>
                </a:solidFill>
                <a:latin typeface="Calibri"/>
              </a:rPr>
              <a:t>Policy-based clearance check — decision support, not a safety guarantee.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11480" y="50292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62758A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11480" y="5266944"/>
            <a:ext cx="2738628" cy="950976"/>
          </a:xfrm>
          <a:prstGeom prst="roundRect">
            <a:avLst>
              <a:gd name="adj" fmla="val 9615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3 text"/>
          <p:cNvSpPr txBox="1"/>
          <p:nvPr/>
        </p:nvSpPr>
        <p:spPr>
          <a:xfrm>
            <a:off x="594360" y="5312664"/>
            <a:ext cx="244602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14598C"/>
                </a:solidFill>
                <a:latin typeface="Calibri"/>
              </a:rPr>
              <a:t>SOCIAL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3B"/>
                </a:solidFill>
                <a:latin typeface="Calibri"/>
              </a:rPr>
              <a:t>Earlier and more localised flood awareness.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287268" y="5266944"/>
            <a:ext cx="2738628" cy="950976"/>
          </a:xfrm>
          <a:prstGeom prst="roundRect">
            <a:avLst>
              <a:gd name="adj" fmla="val 9615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7" name="Rounded Rectangle 17445 text"/>
          <p:cNvSpPr txBox="1"/>
          <p:nvPr/>
        </p:nvSpPr>
        <p:spPr>
          <a:xfrm>
            <a:off x="3470148" y="5312664"/>
            <a:ext cx="244602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14598C"/>
                </a:solidFill>
                <a:latin typeface="Calibri"/>
              </a:rPr>
              <a:t>OPERATIONAL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3B"/>
                </a:solidFill>
                <a:latin typeface="Calibri"/>
              </a:rPr>
              <a:t>Better prioritisation of roads, drainage nodes and emergency resources.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6163056" y="5266944"/>
            <a:ext cx="2738628" cy="950976"/>
          </a:xfrm>
          <a:prstGeom prst="roundRect">
            <a:avLst>
              <a:gd name="adj" fmla="val 9615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7 text"/>
          <p:cNvSpPr txBox="1"/>
          <p:nvPr/>
        </p:nvSpPr>
        <p:spPr>
          <a:xfrm>
            <a:off x="6345936" y="5312664"/>
            <a:ext cx="244602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14598C"/>
                </a:solidFill>
                <a:latin typeface="Calibri"/>
              </a:rPr>
              <a:t>ECONOMIC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3B"/>
                </a:solidFill>
                <a:latin typeface="Calibri"/>
              </a:rPr>
              <a:t>Potentially reduced disruption through earlier operational decisions.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9038844" y="5266944"/>
            <a:ext cx="2738628" cy="950976"/>
          </a:xfrm>
          <a:prstGeom prst="roundRect">
            <a:avLst>
              <a:gd name="adj" fmla="val 9615"/>
            </a:avLst>
          </a:prstGeom>
          <a:solidFill>
            <a:srgbClr val="E6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1" name="Rounded Rectangle 17449 text"/>
          <p:cNvSpPr txBox="1"/>
          <p:nvPr/>
        </p:nvSpPr>
        <p:spPr>
          <a:xfrm>
            <a:off x="9221724" y="5312664"/>
            <a:ext cx="244602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 spc="100">
                <a:solidFill>
                  <a:srgbClr val="14598C"/>
                </a:solidFill>
                <a:latin typeface="Calibri"/>
              </a:rPr>
              <a:t>ENVIRONMENTAL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A3B"/>
                </a:solidFill>
                <a:latin typeface="Calibri"/>
              </a:rPr>
              <a:t>Supports targeted drainage and dewatering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9F5"/>
            </a:gs>
            <a:gs pos="100000">
              <a:srgbClr val="E8F0F6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9F5"/>
              </a:gs>
              <a:gs pos="100000">
                <a:srgbClr val="E8F0F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732520" cy="731520"/>
          </a:xfrm>
        </p:spPr>
        <p:txBody>
          <a:bodyPr anchor="ctr"/>
          <a:lstStyle/>
          <a:p>
            <a:pPr eaLnBrk="1" hangingPunct="1" algn="ctr"/>
            <a:r>
              <a:rPr sz="3000" b="1">
                <a:solidFill>
                  <a:srgbClr val="1B2A3B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Team name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6FA8"/>
            </a:solidFill>
          </a:ln>
        </p:spPr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am name text"/>
          <p:cNvSpPr txBox="1"/>
          <p:nvPr/>
        </p:nvSpPr>
        <p:spPr>
          <a:xfrm>
            <a:off x="329773" y="252246"/>
            <a:ext cx="1251857" cy="807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3B"/>
                </a:solidFill>
                <a:latin typeface="Calibri"/>
              </a:rPr>
              <a:t>Singularity@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00584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80">
                <a:solidFill>
                  <a:srgbClr val="1A6FA8"/>
                </a:solidFill>
                <a:latin typeface="Calibri"/>
              </a:rPr>
              <a:t>BEFORE → AFTER  •  EVIDENCE-BASED EVOLUTION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3B55"/>
                </a:solidFill>
                <a:latin typeface="Calibri"/>
              </a:rPr>
              <a:t>From Distributed Flood Information to Integrated Urban Flood Intelligence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591056"/>
            <a:ext cx="4160520" cy="2221992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94360" y="168249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758A"/>
                </a:solidFill>
                <a:latin typeface="Calibri"/>
              </a:rPr>
              <a:t>BEFORE — EXISTING INFORMATION &amp; MODELLING LANDSCAPE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621792" y="2002536"/>
            <a:ext cx="91440" cy="91440"/>
          </a:xfrm>
          <a:prstGeom prst="ellipse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41248" y="1938528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3B"/>
                </a:solidFill>
                <a:latin typeface="Calibri"/>
              </a:rPr>
              <a:t>Rainfall / weather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IMD forecasts, warnings and nowcast products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621792" y="2359152"/>
            <a:ext cx="91440" cy="91440"/>
          </a:xfrm>
          <a:prstGeom prst="ellipse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41248" y="2295144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3B"/>
                </a:solidFill>
                <a:latin typeface="Calibri"/>
              </a:rPr>
              <a:t>Bihar flood information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FMIS hydromet status, bulletins, inundation maps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621792" y="2715768"/>
            <a:ext cx="91440" cy="91440"/>
          </a:xfrm>
          <a:prstGeom prst="ellipse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41248" y="2651760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3B"/>
                </a:solidFill>
                <a:latin typeface="Calibri"/>
              </a:rPr>
              <a:t>Satellite flood mapping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FMIS inundation from RADARSAT / NRSC layers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621792" y="3072384"/>
            <a:ext cx="91440" cy="91440"/>
          </a:xfrm>
          <a:prstGeom prst="ellipse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41248" y="3008376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3B"/>
                </a:solidFill>
                <a:latin typeface="Calibri"/>
              </a:rPr>
              <a:t>Urban drainage modelling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EPA SWMM runoff and drainage-system modelling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621792" y="3429000"/>
            <a:ext cx="91440" cy="91440"/>
          </a:xfrm>
          <a:prstGeom prst="ellipse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841248" y="3364992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3B"/>
                </a:solidFill>
                <a:latin typeface="Calibri"/>
              </a:rPr>
              <a:t>Coupled flood research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Itzï surface + drainage dynamic simulation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4599432" y="2564892"/>
            <a:ext cx="137160" cy="274320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4764024" y="1591056"/>
            <a:ext cx="2176272" cy="2221992"/>
          </a:xfrm>
          <a:prstGeom prst="roundRect">
            <a:avLst>
              <a:gd name="adj" fmla="val 4201"/>
            </a:avLst>
          </a:prstGeom>
          <a:solidFill>
            <a:srgbClr val="E6F0F8"/>
          </a:solidFill>
          <a:ln w="9525">
            <a:solidFill>
              <a:srgbClr val="9CC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6 text"/>
          <p:cNvSpPr txBox="1"/>
          <p:nvPr/>
        </p:nvSpPr>
        <p:spPr>
          <a:xfrm>
            <a:off x="4901184" y="1664208"/>
            <a:ext cx="1929384" cy="2075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 spc="80">
                <a:solidFill>
                  <a:srgbClr val="B5472A"/>
                </a:solidFill>
                <a:latin typeface="Calibri"/>
              </a:rPr>
              <a:t>INTEGRATION GAP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B2A3B"/>
                </a:solidFill>
                <a:latin typeface="Calibri"/>
              </a:rPr>
              <a:t>Rainfall, flood, inundation and modelling capabilities exist across different systems and tools.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33B55"/>
                </a:solidFill>
                <a:latin typeface="Calibri"/>
              </a:rPr>
              <a:t>Challenge addressed: rainfall + terrain + drainage + flood impact + routing in one urban decision workflow.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6967728" y="2564892"/>
            <a:ext cx="137160" cy="274320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7132320" y="1591056"/>
            <a:ext cx="4645152" cy="2221992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 w="15875">
            <a:solidFill>
              <a:srgbClr val="1A6FA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7315200" y="1682496"/>
            <a:ext cx="437083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598C"/>
                </a:solidFill>
                <a:latin typeface="Calibri"/>
              </a:rPr>
              <a:t>AFTER — VARUNETRA INTEGRATED URBAN FLOOD INTELLIGENCE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315200" y="1956816"/>
            <a:ext cx="777240" cy="274320"/>
          </a:xfrm>
          <a:prstGeom prst="roundRect">
            <a:avLst>
              <a:gd name="adj" fmla="val 26666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1 text"/>
          <p:cNvSpPr txBox="1"/>
          <p:nvPr/>
        </p:nvSpPr>
        <p:spPr>
          <a:xfrm>
            <a:off x="7388352" y="1956816"/>
            <a:ext cx="6309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RAINFALL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8119871" y="2029968"/>
            <a:ext cx="109728" cy="128016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8257031" y="1956816"/>
            <a:ext cx="713232" cy="274320"/>
          </a:xfrm>
          <a:prstGeom prst="roundRect">
            <a:avLst>
              <a:gd name="adj" fmla="val 26666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4 text"/>
          <p:cNvSpPr txBox="1"/>
          <p:nvPr/>
        </p:nvSpPr>
        <p:spPr>
          <a:xfrm>
            <a:off x="8330183" y="1956816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TERRAIN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8997695" y="2029968"/>
            <a:ext cx="109728" cy="128016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9134855" y="1956816"/>
            <a:ext cx="804672" cy="274320"/>
          </a:xfrm>
          <a:prstGeom prst="roundRect">
            <a:avLst>
              <a:gd name="adj" fmla="val 26666"/>
            </a:avLst>
          </a:prstGeom>
          <a:solidFill>
            <a:srgbClr val="1A6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7 text"/>
          <p:cNvSpPr txBox="1"/>
          <p:nvPr/>
        </p:nvSpPr>
        <p:spPr>
          <a:xfrm>
            <a:off x="9208007" y="1956816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DRAINAGE</a:t>
            </a:r>
          </a:p>
        </p:txBody>
      </p:sp>
      <p:sp>
        <p:nvSpPr>
          <p:cNvPr id="17440" name="Right Arrow 17439"/>
          <p:cNvSpPr/>
          <p:nvPr/>
        </p:nvSpPr>
        <p:spPr>
          <a:xfrm>
            <a:off x="9966959" y="2029968"/>
            <a:ext cx="109728" cy="128016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10104119" y="1956816"/>
            <a:ext cx="1463040" cy="274320"/>
          </a:xfrm>
          <a:prstGeom prst="roundRect">
            <a:avLst>
              <a:gd name="adj" fmla="val 26666"/>
            </a:avLst>
          </a:prstGeom>
          <a:solidFill>
            <a:srgbClr val="1459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0 text"/>
          <p:cNvSpPr txBox="1"/>
          <p:nvPr/>
        </p:nvSpPr>
        <p:spPr>
          <a:xfrm>
            <a:off x="10177271" y="1956816"/>
            <a:ext cx="13167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0–180 MIN NOWCAST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7315200" y="2304288"/>
            <a:ext cx="1097280" cy="274320"/>
          </a:xfrm>
          <a:prstGeom prst="roundRect">
            <a:avLst>
              <a:gd name="adj" fmla="val 26666"/>
            </a:avLst>
          </a:prstGeom>
          <a:solidFill>
            <a:srgbClr val="233B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4" name="Rounded Rectangle 17442 text"/>
          <p:cNvSpPr txBox="1"/>
          <p:nvPr/>
        </p:nvSpPr>
        <p:spPr>
          <a:xfrm>
            <a:off x="7388352" y="2304288"/>
            <a:ext cx="95097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FLOOD IMPACT</a:t>
            </a:r>
          </a:p>
        </p:txBody>
      </p:sp>
      <p:sp>
        <p:nvSpPr>
          <p:cNvPr id="17445" name="Right Arrow 17444"/>
          <p:cNvSpPr/>
          <p:nvPr/>
        </p:nvSpPr>
        <p:spPr>
          <a:xfrm>
            <a:off x="8439911" y="2377440"/>
            <a:ext cx="109728" cy="128016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6" name="Rounded Rectangle 17445"/>
          <p:cNvSpPr/>
          <p:nvPr/>
        </p:nvSpPr>
        <p:spPr>
          <a:xfrm>
            <a:off x="8577072" y="2304288"/>
            <a:ext cx="1143000" cy="274320"/>
          </a:xfrm>
          <a:prstGeom prst="roundRect">
            <a:avLst>
              <a:gd name="adj" fmla="val 26666"/>
            </a:avLst>
          </a:prstGeom>
          <a:solidFill>
            <a:srgbClr val="233B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7" name="Rounded Rectangle 17445 text"/>
          <p:cNvSpPr txBox="1"/>
          <p:nvPr/>
        </p:nvSpPr>
        <p:spPr>
          <a:xfrm>
            <a:off x="8650224" y="2304288"/>
            <a:ext cx="99669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ROAD ROUTING</a:t>
            </a:r>
          </a:p>
        </p:txBody>
      </p:sp>
      <p:sp>
        <p:nvSpPr>
          <p:cNvPr id="17448" name="Right Arrow 17447"/>
          <p:cNvSpPr/>
          <p:nvPr/>
        </p:nvSpPr>
        <p:spPr>
          <a:xfrm>
            <a:off x="9747503" y="2377440"/>
            <a:ext cx="109728" cy="128016"/>
          </a:xfrm>
          <a:prstGeom prst="rightArrow">
            <a:avLst/>
          </a:prstGeom>
          <a:solidFill>
            <a:srgbClr val="8FA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9884663" y="2304288"/>
            <a:ext cx="914400" cy="274320"/>
          </a:xfrm>
          <a:prstGeom prst="roundRect">
            <a:avLst>
              <a:gd name="adj" fmla="val 26666"/>
            </a:avLst>
          </a:prstGeom>
          <a:solidFill>
            <a:srgbClr val="233B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0" name="Rounded Rectangle 17448 text"/>
          <p:cNvSpPr txBox="1"/>
          <p:nvPr/>
        </p:nvSpPr>
        <p:spPr>
          <a:xfrm>
            <a:off x="9957815" y="2304288"/>
            <a:ext cx="76809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315200" y="2688336"/>
            <a:ext cx="4370832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050" b="0" i="0">
                <a:solidFill>
                  <a:srgbClr val="1B2A3B"/>
                </a:solidFill>
                <a:latin typeface="Calibri"/>
              </a:rPr>
              <a:t>Copernicus GLO-30 DSM → slope, flow accumulation, depressions, HAND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050" b="0" i="0">
                <a:solidFill>
                  <a:srgbClr val="1B2A3B"/>
                </a:solidFill>
                <a:latin typeface="Calibri"/>
              </a:rPr>
              <a:t>Flood depth: SIMULATED — NOWCAST MODEL OUTPUT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050" b="0" i="0">
                <a:solidFill>
                  <a:srgbClr val="1B2A3B"/>
                </a:solidFill>
                <a:latin typeface="Calibri"/>
              </a:rPr>
              <a:t>Flood conditions → road impact, passability, flood-aware routing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050" b="0" i="0">
                <a:solidFill>
                  <a:srgbClr val="1B2A3B"/>
                </a:solidFill>
                <a:latin typeface="Calibri"/>
              </a:rPr>
              <a:t>Response workflow with 2D GIS + 3D Cesium visualization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1A6FA8"/>
              </a:buClr>
              <a:buFont typeface="Arial"/>
              <a:buChar char="•"/>
            </a:pPr>
            <a:r>
              <a:rPr sz="1050" b="0" i="0">
                <a:solidFill>
                  <a:srgbClr val="1B2A3B"/>
                </a:solidFill>
                <a:latin typeface="Calibri"/>
              </a:rPr>
              <a:t>Surrogate ML: MODEL REQUIRES RECALIBRATION / RETRAINING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11480" y="3931920"/>
            <a:ext cx="3611880" cy="850392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539496" y="4023359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FB4D2"/>
                </a:solidFill>
                <a:latin typeface="Calibri"/>
              </a:rPr>
              <a:t>01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978408" y="4005072"/>
            <a:ext cx="2953512" cy="740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3B"/>
                </a:solidFill>
                <a:latin typeface="Calibri"/>
              </a:rPr>
              <a:t>Bihar FMIS (WRD, Govt of Bihar)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Rainfall, hydromet status, flood bulletins and inundation products.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6FA8"/>
                </a:solidFill>
                <a:latin typeface="Calibri"/>
                <a:hlinkClick r:id="rId4"/>
              </a:rPr>
              <a:t>fmiscwrdbihar.gov.in/fmis/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4288536" y="3931920"/>
            <a:ext cx="3611880" cy="850392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4416552" y="4023359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FB4D2"/>
                </a:solidFill>
                <a:latin typeface="Calibri"/>
              </a:rPr>
              <a:t>02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4855464" y="4005072"/>
            <a:ext cx="2953512" cy="740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3B"/>
                </a:solidFill>
                <a:latin typeface="Calibri"/>
              </a:rPr>
              <a:t>IMD · India Meteorological Dept.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Warnings, forecasts and nowcasts as meteorological inputs.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6FA8"/>
                </a:solidFill>
                <a:latin typeface="Calibri"/>
                <a:hlinkClick r:id="rId5"/>
              </a:rPr>
              <a:t>mausam.imd.gov.in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8165592" y="3931920"/>
            <a:ext cx="3611880" cy="850392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8293608" y="4023359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FB4D2"/>
                </a:solidFill>
                <a:latin typeface="Calibri"/>
              </a:rPr>
              <a:t>03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732519" y="4005072"/>
            <a:ext cx="2953512" cy="740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3B"/>
                </a:solidFill>
                <a:latin typeface="Calibri"/>
              </a:rPr>
              <a:t>MOSDAC / ISRO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Satellite and meteorological geospatial data resources.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6FA8"/>
                </a:solidFill>
                <a:latin typeface="Calibri"/>
                <a:hlinkClick r:id="rId6"/>
              </a:rPr>
              <a:t>mosdac.gov.in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411480" y="4864608"/>
            <a:ext cx="3611880" cy="850392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539496" y="49560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FB4D2"/>
                </a:solidFill>
                <a:latin typeface="Calibri"/>
              </a:rPr>
              <a:t>04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978408" y="4937760"/>
            <a:ext cx="2953512" cy="740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3B"/>
                </a:solidFill>
                <a:latin typeface="Calibri"/>
              </a:rPr>
              <a:t>U.S. EPA SWMM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Established urban rainfall-runoff and drainage-system modelling.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6FA8"/>
                </a:solidFill>
                <a:latin typeface="Calibri"/>
                <a:hlinkClick r:id="rId7"/>
              </a:rPr>
              <a:t>epa.gov/…/storm-water-management-model-swmm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4288536" y="4864608"/>
            <a:ext cx="3611880" cy="850392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4416552" y="49560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FB4D2"/>
                </a:solidFill>
                <a:latin typeface="Calibri"/>
              </a:rPr>
              <a:t>05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4855464" y="4937760"/>
            <a:ext cx="2953512" cy="740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3B"/>
                </a:solidFill>
                <a:latin typeface="Calibri"/>
              </a:rPr>
              <a:t>Itzï Urban Flood Model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Research reference for coupled surface / drainage flood simulation.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6FA8"/>
                </a:solidFill>
                <a:latin typeface="Calibri"/>
                <a:hlinkClick r:id="rId8"/>
              </a:rPr>
              <a:t>itzi.readthedocs.io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8165592" y="4864608"/>
            <a:ext cx="3611880" cy="850392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 w="9525">
            <a:solidFill>
              <a:srgbClr val="D3DEE8"/>
            </a:solidFill>
          </a:ln>
          <a:effectLst>
            <a:outerShdw blurRad="101600" dist="25400" dir="5400000" algn="t" rotWithShape="0">
              <a:srgbClr val="1B2A3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8293608" y="49560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FB4D2"/>
                </a:solidFill>
                <a:latin typeface="Calibri"/>
              </a:rPr>
              <a:t>06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732519" y="4937760"/>
            <a:ext cx="2953512" cy="740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3B"/>
                </a:solidFill>
                <a:latin typeface="Calibri"/>
              </a:rPr>
              <a:t>Copernicus DEM GLO-30 (DSM)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1576B"/>
                </a:solidFill>
                <a:latin typeface="Calibri"/>
              </a:rPr>
              <a:t>30 m Digital Surface Model: current terrain baseline of VARUNETRA.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6FA8"/>
                </a:solidFill>
                <a:latin typeface="Calibri"/>
                <a:hlinkClick r:id="rId9"/>
              </a:rPr>
              <a:t>dataspace.copernicus.eu/…/COP-DEM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411480" y="576072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62758A"/>
                </a:solidFill>
                <a:latin typeface="Calibri"/>
              </a:rPr>
              <a:t>DATA PROVENANCE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1828800" y="5760720"/>
            <a:ext cx="1060704" cy="219456"/>
          </a:xfrm>
          <a:prstGeom prst="roundRect">
            <a:avLst>
              <a:gd name="adj" fmla="val 50000"/>
            </a:avLst>
          </a:prstGeom>
          <a:solidFill>
            <a:srgbClr val="E4F3F0"/>
          </a:solidFill>
          <a:ln w="9525">
            <a:solidFill>
              <a:srgbClr val="BFDC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2" name="Rounded Rectangle 17470 text"/>
          <p:cNvSpPr txBox="1"/>
          <p:nvPr/>
        </p:nvSpPr>
        <p:spPr>
          <a:xfrm>
            <a:off x="1901952" y="576072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7C74"/>
                </a:solidFill>
                <a:latin typeface="Calibri"/>
              </a:rPr>
              <a:t>REAL INPUT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2999232" y="5760720"/>
            <a:ext cx="1338681" cy="21945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 w="9525">
            <a:solidFill>
              <a:srgbClr val="B9D3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4" name="Rounded Rectangle 17472 text"/>
          <p:cNvSpPr txBox="1"/>
          <p:nvPr/>
        </p:nvSpPr>
        <p:spPr>
          <a:xfrm>
            <a:off x="3072384" y="5760720"/>
            <a:ext cx="119237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598C"/>
                </a:solidFill>
                <a:latin typeface="Calibri"/>
              </a:rPr>
              <a:t>DERIVED OUTPUT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4447641" y="5760720"/>
            <a:ext cx="1825142" cy="219456"/>
          </a:xfrm>
          <a:prstGeom prst="roundRect">
            <a:avLst>
              <a:gd name="adj" fmla="val 50000"/>
            </a:avLst>
          </a:prstGeom>
          <a:solidFill>
            <a:srgbClr val="FBEEE8"/>
          </a:solidFill>
          <a:ln w="9525">
            <a:solidFill>
              <a:srgbClr val="E9C9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6" name="Rounded Rectangle 17474 text"/>
          <p:cNvSpPr txBox="1"/>
          <p:nvPr/>
        </p:nvSpPr>
        <p:spPr>
          <a:xfrm>
            <a:off x="4520793" y="5760720"/>
            <a:ext cx="167883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472A"/>
                </a:solidFill>
                <a:latin typeface="Calibri"/>
              </a:rPr>
              <a:t>SIMULATED / ESTIMATED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6382512" y="5760720"/>
            <a:ext cx="1199692" cy="219456"/>
          </a:xfrm>
          <a:prstGeom prst="roundRect">
            <a:avLst>
              <a:gd name="adj" fmla="val 50000"/>
            </a:avLst>
          </a:prstGeom>
          <a:solidFill>
            <a:srgbClr val="F6F0D8"/>
          </a:solidFill>
          <a:ln w="9525">
            <a:solidFill>
              <a:srgbClr val="E2D7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8" name="Rounded Rectangle 17476 text"/>
          <p:cNvSpPr txBox="1"/>
          <p:nvPr/>
        </p:nvSpPr>
        <p:spPr>
          <a:xfrm>
            <a:off x="6455664" y="5760720"/>
            <a:ext cx="1053387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5A1F"/>
                </a:solidFill>
                <a:latin typeface="Calibri"/>
              </a:rPr>
              <a:t>DEMO CONTROL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11480" y="6035040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2758A"/>
                </a:solidFill>
                <a:latin typeface="Calibri"/>
              </a:rPr>
              <a:t>VARUNETRA is a team-developed prototype. It is not an official government product. References are provided as methodological, data-source and ecosystem references.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